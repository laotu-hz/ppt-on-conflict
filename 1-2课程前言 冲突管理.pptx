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 id="2147483708" r:id="rId2"/>
  </p:sldMasterIdLst>
  <p:notesMasterIdLst>
    <p:notesMasterId r:id="rId36"/>
  </p:notesMasterIdLst>
  <p:sldIdLst>
    <p:sldId id="277" r:id="rId3"/>
    <p:sldId id="278" r:id="rId4"/>
    <p:sldId id="303" r:id="rId5"/>
    <p:sldId id="282" r:id="rId6"/>
    <p:sldId id="297" r:id="rId7"/>
    <p:sldId id="526" r:id="rId8"/>
    <p:sldId id="522" r:id="rId9"/>
    <p:sldId id="524" r:id="rId10"/>
    <p:sldId id="305" r:id="rId11"/>
    <p:sldId id="296" r:id="rId12"/>
    <p:sldId id="295" r:id="rId13"/>
    <p:sldId id="293" r:id="rId14"/>
    <p:sldId id="294" r:id="rId15"/>
    <p:sldId id="290" r:id="rId16"/>
    <p:sldId id="291" r:id="rId17"/>
    <p:sldId id="279" r:id="rId18"/>
    <p:sldId id="284" r:id="rId19"/>
    <p:sldId id="285" r:id="rId20"/>
    <p:sldId id="286" r:id="rId21"/>
    <p:sldId id="280" r:id="rId22"/>
    <p:sldId id="298" r:id="rId23"/>
    <p:sldId id="525" r:id="rId24"/>
    <p:sldId id="287" r:id="rId25"/>
    <p:sldId id="299" r:id="rId26"/>
    <p:sldId id="300" r:id="rId27"/>
    <p:sldId id="523" r:id="rId28"/>
    <p:sldId id="301" r:id="rId29"/>
    <p:sldId id="302" r:id="rId30"/>
    <p:sldId id="288" r:id="rId31"/>
    <p:sldId id="304" r:id="rId32"/>
    <p:sldId id="521" r:id="rId33"/>
    <p:sldId id="532" r:id="rId34"/>
    <p:sldId id="306"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588D0F-4B49-4805-8710-BEDE5F6976B7}" type="datetimeFigureOut">
              <a:rPr lang="zh-CN" altLang="en-US" smtClean="0"/>
              <a:t>2023/2/19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3D31B06-ED9B-4695-A7B8-03E8F329FC27}" type="slidenum">
              <a:rPr lang="zh-CN" altLang="en-US" smtClean="0"/>
              <a:t>‹#›</a:t>
            </a:fld>
            <a:endParaRPr lang="zh-CN" altLang="en-US"/>
          </a:p>
        </p:txBody>
      </p:sp>
    </p:spTree>
    <p:extLst>
      <p:ext uri="{BB962C8B-B14F-4D97-AF65-F5344CB8AC3E}">
        <p14:creationId xmlns:p14="http://schemas.microsoft.com/office/powerpoint/2010/main" val="2795826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57E71E94-9914-41AF-BE88-24B63C8D9D74}" type="datetime1">
              <a:rPr lang="zh-CN" altLang="en-US" smtClean="0"/>
              <a:t>2023/2/19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fld id="{92B2091B-80D8-4E0A-B917-09F8623A37C1}" type="datetime1">
              <a:rPr lang="zh-CN" altLang="en-US" smtClean="0"/>
              <a:t>2023/2/19</a:t>
            </a:fld>
            <a:endParaRPr lang="zh-CN" altLang="en-US"/>
          </a:p>
        </p:txBody>
      </p:sp>
      <p:sp>
        <p:nvSpPr>
          <p:cNvPr id="5" name="页脚占位符 4"/>
          <p:cNvSpPr>
            <a:spLocks noGrp="1"/>
          </p:cNvSpPr>
          <p:nvPr>
            <p:ph type="ftr" sz="quarter" idx="11"/>
          </p:nvPr>
        </p:nvSpPr>
        <p:spPr>
          <a:xfrm>
            <a:off x="5330952" y="6400800"/>
            <a:ext cx="3733800" cy="283800"/>
          </a:xfrm>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8AE35AF-9727-4226-9186-1841833A22B0}" type="datetime1">
              <a:rPr lang="zh-CN" altLang="en-US" smtClean="0"/>
              <a:t>2023/2/19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C44DA85-3AFE-4190-A36E-912BAEE08BE7}" type="datetime1">
              <a:rPr lang="zh-CN" altLang="en-US" smtClean="0"/>
              <a:t>2023/2/19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C056301A-B66A-48F2-9FBE-C5EE5AE2E9C2}" type="datetime1">
              <a:rPr lang="zh-CN" altLang="en-US" smtClean="0"/>
              <a:t>2023/2/19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9301165-1F52-4F0D-BF75-6908F6BA9416}" type="datetime1">
              <a:rPr lang="zh-CN" altLang="en-US" smtClean="0"/>
              <a:t>2023/2/19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5C35FB3-88C2-41F9-8312-7A279BB37023}" type="datetime1">
              <a:rPr lang="zh-CN" altLang="en-US" smtClean="0"/>
              <a:t>2023/2/19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5D978CF-7451-4E77-BCDF-9C8C3AC71E1B}" type="datetime1">
              <a:rPr lang="zh-CN" altLang="en-US" smtClean="0"/>
              <a:t>2023/2/19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81FAEFE6-2B2E-437C-9D36-FD4DC92C8738}" type="datetime1">
              <a:rPr lang="zh-CN" altLang="en-US" smtClean="0"/>
              <a:t>2023/2/19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E34C7061-7B02-4184-9144-E143F129F605}" type="datetime1">
              <a:rPr lang="zh-CN" altLang="en-US" smtClean="0"/>
              <a:t>2023/2/19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CA5B48DE-4E29-49B2-8FAB-EF02213E0C1B}" type="datetime1">
              <a:rPr lang="zh-CN" altLang="en-US" smtClean="0"/>
              <a:t>2023/2/19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2530"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a:t>单击此处编辑母版标题样式</a:t>
            </a:r>
          </a:p>
        </p:txBody>
      </p:sp>
      <p:sp>
        <p:nvSpPr>
          <p:cNvPr id="22531"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fld id="{A9CE4747-D64A-455A-9D23-2D6268DCEF3F}" type="datetime1">
              <a:rPr lang="zh-CN" altLang="en-US" smtClean="0">
                <a:solidFill>
                  <a:srgbClr val="007A77"/>
                </a:solidFill>
              </a:rPr>
              <a:t>2023/2/19</a:t>
            </a:fld>
            <a:endParaRPr lang="en-US" altLang="zh-CN">
              <a:solidFill>
                <a:srgbClr val="007A77"/>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solidFill>
                <a:srgbClr val="007A77"/>
              </a:solidFill>
            </a:endParaRPr>
          </a:p>
        </p:txBody>
      </p:sp>
      <p:sp>
        <p:nvSpPr>
          <p:cNvPr id="6" name="Rectangle 6"/>
          <p:cNvSpPr>
            <a:spLocks noGrp="1" noChangeArrowheads="1"/>
          </p:cNvSpPr>
          <p:nvPr>
            <p:ph type="sldNum" sz="quarter" idx="12"/>
          </p:nvPr>
        </p:nvSpPr>
        <p:spPr/>
        <p:txBody>
          <a:bodyPr/>
          <a:lstStyle>
            <a:lvl1pPr>
              <a:defRPr/>
            </a:lvl1pPr>
          </a:lstStyle>
          <a:p>
            <a:pPr>
              <a:defRPr/>
            </a:pPr>
            <a:fld id="{0EC77B8F-545A-44E0-9A94-5CE93A22022E}" type="slidenum">
              <a:rPr lang="zh-CN" altLang="en-US">
                <a:solidFill>
                  <a:srgbClr val="007A77"/>
                </a:solidFill>
              </a:rPr>
              <a:pPr>
                <a:defRPr/>
              </a:pPr>
              <a:t>‹#›</a:t>
            </a:fld>
            <a:endParaRPr lang="zh-CN" altLang="en-US">
              <a:solidFill>
                <a:srgbClr val="007A77"/>
              </a:solidFill>
            </a:endParaRPr>
          </a:p>
        </p:txBody>
      </p:sp>
    </p:spTree>
    <p:extLst>
      <p:ext uri="{BB962C8B-B14F-4D97-AF65-F5344CB8AC3E}">
        <p14:creationId xmlns:p14="http://schemas.microsoft.com/office/powerpoint/2010/main" val="321032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fld id="{400824D0-0221-4504-BE96-167FCC7EA666}" type="datetime1">
              <a:rPr lang="zh-CN" altLang="en-US" smtClean="0">
                <a:solidFill>
                  <a:srgbClr val="007A77"/>
                </a:solidFill>
              </a:rPr>
              <a:t>2023/2/19</a:t>
            </a:fld>
            <a:endParaRPr lang="en-US" altLang="zh-CN">
              <a:solidFill>
                <a:srgbClr val="007A77"/>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7A77"/>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742F439-568C-47A5-BFA4-A753F7700BE0}" type="slidenum">
              <a:rPr lang="zh-CN" altLang="en-US">
                <a:solidFill>
                  <a:srgbClr val="007A77"/>
                </a:solidFill>
              </a:rPr>
              <a:pPr>
                <a:defRPr/>
              </a:pPr>
              <a:t>‹#›</a:t>
            </a:fld>
            <a:endParaRPr lang="zh-CN" altLang="en-US">
              <a:solidFill>
                <a:srgbClr val="007A77"/>
              </a:solidFill>
            </a:endParaRPr>
          </a:p>
        </p:txBody>
      </p:sp>
    </p:spTree>
    <p:extLst>
      <p:ext uri="{BB962C8B-B14F-4D97-AF65-F5344CB8AC3E}">
        <p14:creationId xmlns:p14="http://schemas.microsoft.com/office/powerpoint/2010/main" val="257764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B61E2549-0F9B-4850-BDDC-9D3E331E3607}" type="datetime1">
              <a:rPr lang="zh-CN" altLang="en-US" smtClean="0">
                <a:solidFill>
                  <a:srgbClr val="007A77"/>
                </a:solidFill>
              </a:rPr>
              <a:t>2023/2/19</a:t>
            </a:fld>
            <a:endParaRPr lang="en-US" altLang="zh-CN">
              <a:solidFill>
                <a:srgbClr val="007A77"/>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7A77"/>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A72002E-5931-4CAD-BCAD-B5C1C30CF90D}" type="slidenum">
              <a:rPr lang="zh-CN" altLang="en-US">
                <a:solidFill>
                  <a:srgbClr val="007A77"/>
                </a:solidFill>
              </a:rPr>
              <a:pPr>
                <a:defRPr/>
              </a:pPr>
              <a:t>‹#›</a:t>
            </a:fld>
            <a:endParaRPr lang="zh-CN" altLang="en-US">
              <a:solidFill>
                <a:srgbClr val="007A77"/>
              </a:solidFill>
            </a:endParaRPr>
          </a:p>
        </p:txBody>
      </p:sp>
    </p:spTree>
    <p:extLst>
      <p:ext uri="{BB962C8B-B14F-4D97-AF65-F5344CB8AC3E}">
        <p14:creationId xmlns:p14="http://schemas.microsoft.com/office/powerpoint/2010/main" val="3008856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p:cNvSpPr>
            <a:spLocks noGrp="1" noChangeArrowheads="1"/>
          </p:cNvSpPr>
          <p:nvPr>
            <p:ph type="dt" sz="half" idx="10"/>
          </p:nvPr>
        </p:nvSpPr>
        <p:spPr>
          <a:ln/>
        </p:spPr>
        <p:txBody>
          <a:bodyPr/>
          <a:lstStyle>
            <a:lvl1pPr>
              <a:defRPr/>
            </a:lvl1pPr>
          </a:lstStyle>
          <a:p>
            <a:pPr>
              <a:defRPr/>
            </a:pPr>
            <a:fld id="{201CE6E3-8C1F-41EF-A9FF-8DF10B16F488}" type="datetime1">
              <a:rPr lang="zh-CN" altLang="en-US" smtClean="0">
                <a:solidFill>
                  <a:srgbClr val="007A77"/>
                </a:solidFill>
              </a:rPr>
              <a:t>2023/2/19</a:t>
            </a:fld>
            <a:endParaRPr lang="en-US" altLang="zh-CN">
              <a:solidFill>
                <a:srgbClr val="007A77"/>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7A77"/>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DC26C40-D7E7-4C20-80E2-3BE1CA4DA400}" type="slidenum">
              <a:rPr lang="zh-CN" altLang="en-US">
                <a:solidFill>
                  <a:srgbClr val="007A77"/>
                </a:solidFill>
              </a:rPr>
              <a:pPr>
                <a:defRPr/>
              </a:pPr>
              <a:t>‹#›</a:t>
            </a:fld>
            <a:endParaRPr lang="zh-CN" altLang="en-US">
              <a:solidFill>
                <a:srgbClr val="007A77"/>
              </a:solidFill>
            </a:endParaRPr>
          </a:p>
        </p:txBody>
      </p:sp>
    </p:spTree>
    <p:extLst>
      <p:ext uri="{BB962C8B-B14F-4D97-AF65-F5344CB8AC3E}">
        <p14:creationId xmlns:p14="http://schemas.microsoft.com/office/powerpoint/2010/main" val="31565900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p:cNvSpPr>
            <a:spLocks noGrp="1" noChangeArrowheads="1"/>
          </p:cNvSpPr>
          <p:nvPr>
            <p:ph type="dt" sz="half" idx="10"/>
          </p:nvPr>
        </p:nvSpPr>
        <p:spPr>
          <a:ln/>
        </p:spPr>
        <p:txBody>
          <a:bodyPr/>
          <a:lstStyle>
            <a:lvl1pPr>
              <a:defRPr/>
            </a:lvl1pPr>
          </a:lstStyle>
          <a:p>
            <a:pPr>
              <a:defRPr/>
            </a:pPr>
            <a:fld id="{783D6659-8B80-46E2-8C58-5676B1C08C8A}" type="datetime1">
              <a:rPr lang="zh-CN" altLang="en-US" smtClean="0">
                <a:solidFill>
                  <a:srgbClr val="007A77"/>
                </a:solidFill>
              </a:rPr>
              <a:t>2023/2/19</a:t>
            </a:fld>
            <a:endParaRPr lang="en-US" altLang="zh-CN">
              <a:solidFill>
                <a:srgbClr val="007A77"/>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7A77"/>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716ECBE0-B735-46B7-B031-407D8CD457C7}" type="slidenum">
              <a:rPr lang="zh-CN" altLang="en-US">
                <a:solidFill>
                  <a:srgbClr val="007A77"/>
                </a:solidFill>
              </a:rPr>
              <a:pPr>
                <a:defRPr/>
              </a:pPr>
              <a:t>‹#›</a:t>
            </a:fld>
            <a:endParaRPr lang="zh-CN" altLang="en-US">
              <a:solidFill>
                <a:srgbClr val="007A77"/>
              </a:solidFill>
            </a:endParaRPr>
          </a:p>
        </p:txBody>
      </p:sp>
    </p:spTree>
    <p:extLst>
      <p:ext uri="{BB962C8B-B14F-4D97-AF65-F5344CB8AC3E}">
        <p14:creationId xmlns:p14="http://schemas.microsoft.com/office/powerpoint/2010/main" val="309589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B4D06835-3295-4BB5-B88D-E1C517870BFA}" type="datetime1">
              <a:rPr lang="zh-CN" altLang="en-US" smtClean="0">
                <a:solidFill>
                  <a:srgbClr val="007A77"/>
                </a:solidFill>
              </a:rPr>
              <a:t>2023/2/19</a:t>
            </a:fld>
            <a:endParaRPr lang="en-US" altLang="zh-CN">
              <a:solidFill>
                <a:srgbClr val="007A77"/>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7A77"/>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7D77D173-A4E6-4341-A75C-5A4F3EDFCDF2}" type="slidenum">
              <a:rPr lang="zh-CN" altLang="en-US">
                <a:solidFill>
                  <a:srgbClr val="007A77"/>
                </a:solidFill>
              </a:rPr>
              <a:pPr>
                <a:defRPr/>
              </a:pPr>
              <a:t>‹#›</a:t>
            </a:fld>
            <a:endParaRPr lang="zh-CN" altLang="en-US">
              <a:solidFill>
                <a:srgbClr val="007A77"/>
              </a:solidFill>
            </a:endParaRPr>
          </a:p>
        </p:txBody>
      </p:sp>
    </p:spTree>
    <p:extLst>
      <p:ext uri="{BB962C8B-B14F-4D97-AF65-F5344CB8AC3E}">
        <p14:creationId xmlns:p14="http://schemas.microsoft.com/office/powerpoint/2010/main" val="1838344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E04C94CE-361B-47F9-9DF5-5124C58361D0}" type="datetime1">
              <a:rPr lang="zh-CN" altLang="en-US" smtClean="0">
                <a:solidFill>
                  <a:srgbClr val="007A77"/>
                </a:solidFill>
              </a:rPr>
              <a:t>2023/2/19</a:t>
            </a:fld>
            <a:endParaRPr lang="en-US" altLang="zh-CN">
              <a:solidFill>
                <a:srgbClr val="007A77"/>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7A77"/>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E3253E07-F6D9-441A-9AE0-78E617A5FD98}" type="slidenum">
              <a:rPr lang="zh-CN" altLang="en-US">
                <a:solidFill>
                  <a:srgbClr val="007A77"/>
                </a:solidFill>
              </a:rPr>
              <a:pPr>
                <a:defRPr/>
              </a:pPr>
              <a:t>‹#›</a:t>
            </a:fld>
            <a:endParaRPr lang="zh-CN" altLang="en-US">
              <a:solidFill>
                <a:srgbClr val="007A77"/>
              </a:solidFill>
            </a:endParaRPr>
          </a:p>
        </p:txBody>
      </p:sp>
    </p:spTree>
    <p:extLst>
      <p:ext uri="{BB962C8B-B14F-4D97-AF65-F5344CB8AC3E}">
        <p14:creationId xmlns:p14="http://schemas.microsoft.com/office/powerpoint/2010/main" val="953369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5DFB1598-9978-487E-8E92-A160AB58066F}" type="datetime1">
              <a:rPr lang="zh-CN" altLang="en-US" smtClean="0">
                <a:solidFill>
                  <a:srgbClr val="007A77"/>
                </a:solidFill>
              </a:rPr>
              <a:t>2023/2/19</a:t>
            </a:fld>
            <a:endParaRPr lang="en-US" altLang="zh-CN">
              <a:solidFill>
                <a:srgbClr val="007A77"/>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7A77"/>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4B971AF-5327-44EE-B2D5-7414CAD003FB}" type="slidenum">
              <a:rPr lang="zh-CN" altLang="en-US">
                <a:solidFill>
                  <a:srgbClr val="007A77"/>
                </a:solidFill>
              </a:rPr>
              <a:pPr>
                <a:defRPr/>
              </a:pPr>
              <a:t>‹#›</a:t>
            </a:fld>
            <a:endParaRPr lang="zh-CN" altLang="en-US">
              <a:solidFill>
                <a:srgbClr val="007A77"/>
              </a:solidFill>
            </a:endParaRPr>
          </a:p>
        </p:txBody>
      </p:sp>
    </p:spTree>
    <p:extLst>
      <p:ext uri="{BB962C8B-B14F-4D97-AF65-F5344CB8AC3E}">
        <p14:creationId xmlns:p14="http://schemas.microsoft.com/office/powerpoint/2010/main" val="3974193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7C93EDDD-F96A-4F8A-88CB-F26D6B5F2472}" type="datetime1">
              <a:rPr lang="zh-CN" altLang="en-US" smtClean="0">
                <a:solidFill>
                  <a:srgbClr val="007A77"/>
                </a:solidFill>
              </a:rPr>
              <a:t>2023/2/19</a:t>
            </a:fld>
            <a:endParaRPr lang="en-US" altLang="zh-CN">
              <a:solidFill>
                <a:srgbClr val="007A77"/>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7A77"/>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D6B01AC-3AA1-4192-A925-BDF97065EF4C}" type="slidenum">
              <a:rPr lang="zh-CN" altLang="en-US">
                <a:solidFill>
                  <a:srgbClr val="007A77"/>
                </a:solidFill>
              </a:rPr>
              <a:pPr>
                <a:defRPr/>
              </a:pPr>
              <a:t>‹#›</a:t>
            </a:fld>
            <a:endParaRPr lang="zh-CN" altLang="en-US">
              <a:solidFill>
                <a:srgbClr val="007A77"/>
              </a:solidFill>
            </a:endParaRPr>
          </a:p>
        </p:txBody>
      </p:sp>
    </p:spTree>
    <p:extLst>
      <p:ext uri="{BB962C8B-B14F-4D97-AF65-F5344CB8AC3E}">
        <p14:creationId xmlns:p14="http://schemas.microsoft.com/office/powerpoint/2010/main" val="16250846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fld id="{56C296D4-AD72-4215-988A-704561518FAF}" type="datetime1">
              <a:rPr lang="zh-CN" altLang="en-US" smtClean="0">
                <a:solidFill>
                  <a:srgbClr val="007A77"/>
                </a:solidFill>
              </a:rPr>
              <a:t>2023/2/19</a:t>
            </a:fld>
            <a:endParaRPr lang="en-US" altLang="zh-CN">
              <a:solidFill>
                <a:srgbClr val="007A77"/>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7A77"/>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E6A98CC-C1D4-464C-8E05-8298514F8EA6}" type="slidenum">
              <a:rPr lang="zh-CN" altLang="en-US">
                <a:solidFill>
                  <a:srgbClr val="007A77"/>
                </a:solidFill>
              </a:rPr>
              <a:pPr>
                <a:defRPr/>
              </a:pPr>
              <a:t>‹#›</a:t>
            </a:fld>
            <a:endParaRPr lang="zh-CN" altLang="en-US">
              <a:solidFill>
                <a:srgbClr val="007A77"/>
              </a:solidFill>
            </a:endParaRPr>
          </a:p>
        </p:txBody>
      </p:sp>
    </p:spTree>
    <p:extLst>
      <p:ext uri="{BB962C8B-B14F-4D97-AF65-F5344CB8AC3E}">
        <p14:creationId xmlns:p14="http://schemas.microsoft.com/office/powerpoint/2010/main" val="34267341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fld id="{74C93230-52FB-4DCE-A418-3A4B9741A157}" type="datetime1">
              <a:rPr lang="zh-CN" altLang="en-US" smtClean="0">
                <a:solidFill>
                  <a:srgbClr val="007A77"/>
                </a:solidFill>
              </a:rPr>
              <a:t>2023/2/19</a:t>
            </a:fld>
            <a:endParaRPr lang="en-US" altLang="zh-CN">
              <a:solidFill>
                <a:srgbClr val="007A77"/>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7A77"/>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BAB3F3F-69FD-42A2-8480-AF54C6B7CFD0}" type="slidenum">
              <a:rPr lang="zh-CN" altLang="en-US">
                <a:solidFill>
                  <a:srgbClr val="007A77"/>
                </a:solidFill>
              </a:rPr>
              <a:pPr>
                <a:defRPr/>
              </a:pPr>
              <a:t>‹#›</a:t>
            </a:fld>
            <a:endParaRPr lang="zh-CN" altLang="en-US">
              <a:solidFill>
                <a:srgbClr val="007A77"/>
              </a:solidFill>
            </a:endParaRPr>
          </a:p>
        </p:txBody>
      </p:sp>
    </p:spTree>
    <p:extLst>
      <p:ext uri="{BB962C8B-B14F-4D97-AF65-F5344CB8AC3E}">
        <p14:creationId xmlns:p14="http://schemas.microsoft.com/office/powerpoint/2010/main" val="3738900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fld id="{4F727854-2A05-40DC-B1E5-9ADD10AD6068}" type="datetime1">
              <a:rPr lang="zh-CN" altLang="en-US" smtClean="0"/>
              <a:t>2023/2/19</a:t>
            </a:fld>
            <a:endParaRPr lang="zh-CN" altLang="en-US"/>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endParaRPr lang="zh-CN" altLang="en-US"/>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fld id="{0C913308-F349-4B6D-A68A-DD1791B4A57B}" type="slidenum">
              <a:rPr lang="zh-CN" altLang="en-US" smtClean="0"/>
              <a:pPr/>
              <a:t>‹#›</a:t>
            </a:fld>
            <a:endParaRPr lang="zh-CN" altLang="en-US"/>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idx="4294967295"/>
          </p:nvPr>
        </p:nvSpPr>
        <p:spPr bwMode="auto">
          <a:xfrm>
            <a:off x="301625" y="609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Rot="1" noChangeArrowheads="1"/>
          </p:cNvSpPr>
          <p:nvPr>
            <p:ph type="body" idx="4294967295"/>
          </p:nvPr>
        </p:nvSpPr>
        <p:spPr bwMode="auto">
          <a:xfrm>
            <a:off x="301625" y="1905000"/>
            <a:ext cx="8540750"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508" name="Rectangle 4"/>
          <p:cNvSpPr>
            <a:spLocks noGrp="1" noChangeArrowheads="1"/>
          </p:cNvSpPr>
          <p:nvPr>
            <p:ph type="dt" sz="half" idx="2"/>
          </p:nvPr>
        </p:nvSpPr>
        <p:spPr bwMode="auto">
          <a:xfrm>
            <a:off x="301625" y="6245225"/>
            <a:ext cx="2289175" cy="476250"/>
          </a:xfrm>
          <a:prstGeom prst="rect">
            <a:avLst/>
          </a:prstGeom>
          <a:noFill/>
          <a:ln>
            <a:noFill/>
          </a:ln>
          <a:effectLst/>
        </p:spPr>
        <p:txBody>
          <a:bodyPr vert="horz" wrap="square" lIns="91440" tIns="45720" rIns="91440" bIns="45720" numCol="1" anchor="t" anchorCtr="0" compatLnSpc="1"/>
          <a:lstStyle>
            <a:lvl1pPr>
              <a:buFontTx/>
              <a:buNone/>
              <a:defRPr sz="1400">
                <a:latin typeface="Arial" panose="020B0604020202020204" pitchFamily="34" charset="0"/>
                <a:ea typeface="宋体" pitchFamily="2" charset="-122"/>
              </a:defRPr>
            </a:lvl1pPr>
          </a:lstStyle>
          <a:p>
            <a:pPr fontAlgn="base">
              <a:spcBef>
                <a:spcPct val="0"/>
              </a:spcBef>
              <a:spcAft>
                <a:spcPct val="0"/>
              </a:spcAft>
              <a:defRPr/>
            </a:pPr>
            <a:fld id="{61CD2B9D-CD00-4A84-AE00-3B44867751C8}" type="datetime1">
              <a:rPr lang="zh-CN" altLang="en-US" smtClean="0">
                <a:solidFill>
                  <a:srgbClr val="007A77"/>
                </a:solidFill>
              </a:rPr>
              <a:t>2023/2/19</a:t>
            </a:fld>
            <a:endParaRPr lang="en-US" altLang="zh-CN">
              <a:solidFill>
                <a:srgbClr val="007A77"/>
              </a:solidFill>
            </a:endParaRPr>
          </a:p>
        </p:txBody>
      </p:sp>
      <p:sp>
        <p:nvSpPr>
          <p:cNvPr id="2150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a:buFontTx/>
              <a:buNone/>
              <a:defRPr sz="1400">
                <a:latin typeface="Arial" panose="020B0604020202020204" pitchFamily="34" charset="0"/>
                <a:ea typeface="宋体" pitchFamily="2" charset="-122"/>
              </a:defRPr>
            </a:lvl1pPr>
          </a:lstStyle>
          <a:p>
            <a:pPr fontAlgn="base">
              <a:spcBef>
                <a:spcPct val="0"/>
              </a:spcBef>
              <a:spcAft>
                <a:spcPct val="0"/>
              </a:spcAft>
              <a:defRPr/>
            </a:pPr>
            <a:endParaRPr lang="en-US" altLang="zh-CN">
              <a:solidFill>
                <a:srgbClr val="007A77"/>
              </a:solidFill>
            </a:endParaRPr>
          </a:p>
        </p:txBody>
      </p:sp>
      <p:sp>
        <p:nvSpPr>
          <p:cNvPr id="21510" name="Rectangle 6"/>
          <p:cNvSpPr>
            <a:spLocks noGrp="1" noChangeArrowheads="1"/>
          </p:cNvSpPr>
          <p:nvPr>
            <p:ph type="sldNum" sz="quarter" idx="4"/>
          </p:nvPr>
        </p:nvSpPr>
        <p:spPr bwMode="auto">
          <a:xfrm>
            <a:off x="6553200" y="6245225"/>
            <a:ext cx="2289175"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buFont typeface="Arial" pitchFamily="34" charset="0"/>
              <a:buNone/>
              <a:defRPr sz="1400">
                <a:latin typeface="Arial" pitchFamily="34" charset="0"/>
                <a:ea typeface="宋体" pitchFamily="2" charset="-122"/>
              </a:defRPr>
            </a:lvl1pPr>
          </a:lstStyle>
          <a:p>
            <a:pPr fontAlgn="base">
              <a:spcBef>
                <a:spcPct val="0"/>
              </a:spcBef>
              <a:spcAft>
                <a:spcPct val="0"/>
              </a:spcAft>
              <a:defRPr/>
            </a:pPr>
            <a:fld id="{4CCE4CEC-748E-45AB-B862-1C4C61D34D4D}" type="slidenum">
              <a:rPr lang="zh-CN" altLang="en-US">
                <a:solidFill>
                  <a:srgbClr val="007A77"/>
                </a:solidFill>
              </a:rPr>
              <a:pPr fontAlgn="base">
                <a:spcBef>
                  <a:spcPct val="0"/>
                </a:spcBef>
                <a:spcAft>
                  <a:spcPct val="0"/>
                </a:spcAft>
                <a:defRPr/>
              </a:pPr>
              <a:t>‹#›</a:t>
            </a:fld>
            <a:endParaRPr lang="zh-CN" altLang="en-US">
              <a:solidFill>
                <a:srgbClr val="007A77"/>
              </a:solidFill>
            </a:endParaRPr>
          </a:p>
        </p:txBody>
      </p:sp>
    </p:spTree>
    <p:extLst>
      <p:ext uri="{BB962C8B-B14F-4D97-AF65-F5344CB8AC3E}">
        <p14:creationId xmlns:p14="http://schemas.microsoft.com/office/powerpoint/2010/main" val="121614340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webp"/><Relationship Id="rId2" Type="http://schemas.openxmlformats.org/officeDocument/2006/relationships/image" Target="../media/image5.web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webp"/><Relationship Id="rId2" Type="http://schemas.openxmlformats.org/officeDocument/2006/relationships/image" Target="../media/image7.web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webp"/><Relationship Id="rId2" Type="http://schemas.openxmlformats.org/officeDocument/2006/relationships/image" Target="../media/image9.web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2071670" y="3857628"/>
            <a:ext cx="5308642" cy="406400"/>
          </a:xfrm>
        </p:spPr>
        <p:txBody>
          <a:bodyPr>
            <a:noAutofit/>
          </a:bodyPr>
          <a:lstStyle/>
          <a:p>
            <a:pPr eaLnBrk="1" hangingPunct="1"/>
            <a:r>
              <a:rPr lang="zh-CN" altLang="en-US" sz="2000" dirty="0">
                <a:solidFill>
                  <a:schemeClr val="tx1"/>
                </a:solidFill>
              </a:rPr>
              <a:t>浙江理工大学科技与艺术学院人力资源教研室</a:t>
            </a:r>
            <a:endParaRPr lang="en-US" altLang="zh-CN" sz="2000" dirty="0">
              <a:solidFill>
                <a:schemeClr val="tx1"/>
              </a:solidFill>
            </a:endParaRPr>
          </a:p>
          <a:p>
            <a:pPr eaLnBrk="1" hangingPunct="1"/>
            <a:r>
              <a:rPr lang="zh-CN" altLang="en-US" sz="2000" dirty="0">
                <a:solidFill>
                  <a:schemeClr val="tx1"/>
                </a:solidFill>
              </a:rPr>
              <a:t>涂辉文 博士</a:t>
            </a:r>
            <a:endParaRPr lang="zh-CN" altLang="zh-CN" sz="2000" dirty="0">
              <a:solidFill>
                <a:schemeClr val="tx1"/>
              </a:solidFill>
            </a:endParaRPr>
          </a:p>
        </p:txBody>
      </p:sp>
      <p:sp>
        <p:nvSpPr>
          <p:cNvPr id="3076" name="矩形 3"/>
          <p:cNvSpPr>
            <a:spLocks noChangeArrowheads="1"/>
          </p:cNvSpPr>
          <p:nvPr/>
        </p:nvSpPr>
        <p:spPr bwMode="auto">
          <a:xfrm>
            <a:off x="2627784" y="4653136"/>
            <a:ext cx="4572000" cy="954107"/>
          </a:xfrm>
          <a:prstGeom prst="rect">
            <a:avLst/>
          </a:prstGeom>
          <a:noFill/>
          <a:ln w="9525">
            <a:noFill/>
            <a:miter lim="800000"/>
            <a:headEnd/>
            <a:tailEnd/>
          </a:ln>
        </p:spPr>
        <p:txBody>
          <a:bodyPr wrap="square">
            <a:spAutoFit/>
          </a:bodyPr>
          <a:lstStyle/>
          <a:p>
            <a:pPr algn="ctr"/>
            <a:endParaRPr lang="en-US" altLang="zh-CN" sz="2800" dirty="0">
              <a:solidFill>
                <a:schemeClr val="tx2"/>
              </a:solidFill>
            </a:endParaRPr>
          </a:p>
          <a:p>
            <a:pPr algn="ctr"/>
            <a:r>
              <a:rPr lang="en-US" altLang="zh-CN" sz="2800" dirty="0">
                <a:solidFill>
                  <a:schemeClr val="tx2"/>
                </a:solidFill>
              </a:rPr>
              <a:t>huiwenttt@163.com</a:t>
            </a:r>
            <a:endParaRPr lang="zh-CN" altLang="en-US" sz="2800" dirty="0">
              <a:solidFill>
                <a:schemeClr val="tx2"/>
              </a:solidFill>
            </a:endParaRPr>
          </a:p>
        </p:txBody>
      </p:sp>
      <p:sp>
        <p:nvSpPr>
          <p:cNvPr id="5" name="标题 4"/>
          <p:cNvSpPr>
            <a:spLocks noGrp="1"/>
          </p:cNvSpPr>
          <p:nvPr>
            <p:ph type="ctrTitle"/>
          </p:nvPr>
        </p:nvSpPr>
        <p:spPr>
          <a:xfrm>
            <a:off x="714348" y="1571612"/>
            <a:ext cx="7772400" cy="1538286"/>
          </a:xfrm>
        </p:spPr>
        <p:txBody>
          <a:bodyPr/>
          <a:lstStyle/>
          <a:p>
            <a:r>
              <a:rPr lang="en-US" altLang="zh-CN" dirty="0"/>
              <a:t>《</a:t>
            </a:r>
            <a:r>
              <a:rPr lang="zh-CN" altLang="en-US" dirty="0"/>
              <a:t>冲突管理</a:t>
            </a:r>
            <a:r>
              <a:rPr lang="en-US" altLang="zh-CN" dirty="0"/>
              <a:t>》</a:t>
            </a:r>
            <a:r>
              <a:rPr lang="zh-CN" altLang="en-US" dirty="0"/>
              <a:t>课程前言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冲突管理是什么？</a:t>
            </a:r>
            <a:endParaRPr lang="en-US" altLang="zh-CN" dirty="0"/>
          </a:p>
          <a:p>
            <a:r>
              <a:rPr lang="zh-CN" altLang="en-US" dirty="0"/>
              <a:t>冲突管理课程学习内容</a:t>
            </a:r>
            <a:endParaRPr lang="en-US" altLang="zh-CN" dirty="0"/>
          </a:p>
          <a:p>
            <a:r>
              <a:rPr lang="zh-CN" altLang="en-US" dirty="0"/>
              <a:t>冲突管理课程学什么？怎么学？</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前面的话</a:t>
            </a:r>
          </a:p>
        </p:txBody>
      </p:sp>
      <p:sp>
        <p:nvSpPr>
          <p:cNvPr id="3" name="内容占位符 2"/>
          <p:cNvSpPr>
            <a:spLocks noGrp="1"/>
          </p:cNvSpPr>
          <p:nvPr>
            <p:ph idx="1"/>
          </p:nvPr>
        </p:nvSpPr>
        <p:spPr/>
        <p:txBody>
          <a:bodyPr>
            <a:normAutofit fontScale="77500" lnSpcReduction="20000"/>
          </a:bodyPr>
          <a:lstStyle/>
          <a:p>
            <a:pPr>
              <a:lnSpc>
                <a:spcPct val="120000"/>
              </a:lnSpc>
            </a:pPr>
            <a:r>
              <a:rPr lang="zh-CN" altLang="en-US" dirty="0">
                <a:latin typeface="楷体" pitchFamily="49" charset="-122"/>
                <a:ea typeface="楷体" pitchFamily="49" charset="-122"/>
              </a:rPr>
              <a:t>我们每个人都生活在一个人造的概念、人造物构成的世界中，只有让你的人生属于你自己，拥有自我的真实意义，我想，那就是人生幸福（非快乐）的源泉。</a:t>
            </a:r>
            <a:endParaRPr lang="en-US" altLang="zh-CN" dirty="0">
              <a:latin typeface="楷体" pitchFamily="49" charset="-122"/>
              <a:ea typeface="楷体" pitchFamily="49" charset="-122"/>
            </a:endParaRPr>
          </a:p>
          <a:p>
            <a:pPr>
              <a:lnSpc>
                <a:spcPct val="120000"/>
              </a:lnSpc>
            </a:pPr>
            <a:r>
              <a:rPr lang="zh-CN" altLang="en-US" dirty="0">
                <a:latin typeface="楷体" pitchFamily="49" charset="-122"/>
                <a:ea typeface="楷体" pitchFamily="49" charset="-122"/>
              </a:rPr>
              <a:t>所以，强调理解</a:t>
            </a:r>
            <a:r>
              <a:rPr lang="en-US" altLang="zh-CN" dirty="0">
                <a:latin typeface="楷体" pitchFamily="49" charset="-122"/>
                <a:ea typeface="楷体" pitchFamily="49" charset="-122"/>
              </a:rPr>
              <a:t>——</a:t>
            </a:r>
            <a:r>
              <a:rPr lang="zh-CN" altLang="en-US" dirty="0">
                <a:latin typeface="楷体" pitchFamily="49" charset="-122"/>
                <a:ea typeface="楷体" pitchFamily="49" charset="-122"/>
              </a:rPr>
              <a:t>客观理解</a:t>
            </a:r>
            <a:r>
              <a:rPr lang="en-US" altLang="zh-CN" dirty="0">
                <a:latin typeface="楷体" pitchFamily="49" charset="-122"/>
                <a:ea typeface="楷体" pitchFamily="49" charset="-122"/>
              </a:rPr>
              <a:t>——</a:t>
            </a:r>
            <a:r>
              <a:rPr lang="zh-CN" altLang="en-US" dirty="0">
                <a:latin typeface="楷体" pitchFamily="49" charset="-122"/>
                <a:ea typeface="楷体" pitchFamily="49" charset="-122"/>
              </a:rPr>
              <a:t>科学理解，当你对一个事物（概念）能用自己的语言简洁表达，你有了基本的来自自我的理解；当你不断采用客观（数据）与科学的思路去分析事物，解决问题时，你就具有了较高的能力，面对自己的生活、工作与意义，不断获得更多的、作为人的自由。</a:t>
            </a:r>
            <a:endParaRPr lang="en-US" altLang="zh-CN" dirty="0">
              <a:latin typeface="楷体" pitchFamily="49" charset="-122"/>
              <a:ea typeface="楷体" pitchFamily="49" charset="-122"/>
            </a:endParaRPr>
          </a:p>
          <a:p>
            <a:pPr>
              <a:lnSpc>
                <a:spcPct val="120000"/>
              </a:lnSpc>
            </a:pPr>
            <a:r>
              <a:rPr lang="zh-CN" altLang="en-US" dirty="0">
                <a:latin typeface="楷体" pitchFamily="49" charset="-122"/>
                <a:ea typeface="楷体" pitchFamily="49" charset="-122"/>
              </a:rPr>
              <a:t>学习什么：理解掌握概念、理论、方法论；不断理解、实践、提升！</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a:t>
            </a:fld>
            <a:endParaRPr lang="zh-CN" altLang="en-US"/>
          </a:p>
        </p:txBody>
      </p:sp>
    </p:spTree>
    <p:extLst>
      <p:ext uri="{BB962C8B-B14F-4D97-AF65-F5344CB8AC3E}">
        <p14:creationId xmlns:p14="http://schemas.microsoft.com/office/powerpoint/2010/main" val="1650313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冲突管理是什么？</a:t>
            </a:r>
          </a:p>
        </p:txBody>
      </p:sp>
      <p:sp>
        <p:nvSpPr>
          <p:cNvPr id="3" name="内容占位符 2"/>
          <p:cNvSpPr>
            <a:spLocks noGrp="1"/>
          </p:cNvSpPr>
          <p:nvPr>
            <p:ph idx="1"/>
          </p:nvPr>
        </p:nvSpPr>
        <p:spPr>
          <a:xfrm>
            <a:off x="282592" y="1597871"/>
            <a:ext cx="8435280" cy="4686320"/>
          </a:xfrm>
        </p:spPr>
        <p:txBody>
          <a:bodyPr/>
          <a:lstStyle/>
          <a:p>
            <a:r>
              <a:rPr lang="zh-CN" altLang="en-US" sz="2800" dirty="0">
                <a:latin typeface="楷体" panose="02010609060101010101" pitchFamily="49" charset="-122"/>
                <a:ea typeface="楷体" panose="02010609060101010101" pitchFamily="49" charset="-122"/>
              </a:rPr>
              <a:t>课程首要问题：概念界定、内容界定</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管理的基本要求</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当人逐步理解什么是冲突，人为什么会发生各种各样的冲突的必然性，你的思考逐步深刻，你就有越大的冲突处理的自由。</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所以，先界定课程最基本的概念：冲突、冲突管理</a:t>
            </a:r>
            <a:endParaRPr lang="en-US" altLang="zh-CN" sz="2800" dirty="0">
              <a:latin typeface="楷体" panose="02010609060101010101" pitchFamily="49" charset="-122"/>
              <a:ea typeface="楷体" panose="02010609060101010101" pitchFamily="49" charset="-122"/>
            </a:endParaRPr>
          </a:p>
          <a:p>
            <a:pPr marL="0" indent="0">
              <a:buNone/>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冲突管理是什么？</a:t>
            </a:r>
            <a:br>
              <a:rPr lang="en-US" altLang="zh-CN" dirty="0"/>
            </a:br>
            <a:r>
              <a:rPr lang="en-US" altLang="zh-CN" sz="2700" dirty="0"/>
              <a:t>——</a:t>
            </a:r>
            <a:r>
              <a:rPr lang="zh-CN" altLang="en-US" sz="2700" dirty="0"/>
              <a:t>个体内的冲突</a:t>
            </a:r>
          </a:p>
        </p:txBody>
      </p:sp>
      <p:sp>
        <p:nvSpPr>
          <p:cNvPr id="3" name="内容占位符 2"/>
          <p:cNvSpPr>
            <a:spLocks noGrp="1"/>
          </p:cNvSpPr>
          <p:nvPr>
            <p:ph idx="1"/>
          </p:nvPr>
        </p:nvSpPr>
        <p:spPr>
          <a:xfrm>
            <a:off x="285720" y="4936600"/>
            <a:ext cx="8572560" cy="1588744"/>
          </a:xfrm>
        </p:spPr>
        <p:txBody>
          <a:bodyPr>
            <a:normAutofit/>
          </a:bodyPr>
          <a:lstStyle/>
          <a:p>
            <a:pPr marL="0" indent="0">
              <a:buNone/>
            </a:pPr>
            <a:r>
              <a:rPr lang="en-US" altLang="zh-CN" sz="2800" dirty="0">
                <a:latin typeface="宋体" pitchFamily="2" charset="-122"/>
                <a:ea typeface="宋体" pitchFamily="2" charset="-122"/>
              </a:rPr>
              <a:t>. </a:t>
            </a:r>
            <a:r>
              <a:rPr lang="zh-CN" altLang="en-US" sz="2800" dirty="0">
                <a:latin typeface="宋体" pitchFamily="2" charset="-122"/>
                <a:ea typeface="宋体" pitchFamily="2" charset="-122"/>
              </a:rPr>
              <a:t>存在意见的对立或不一致，并带有某种相互作用。</a:t>
            </a:r>
            <a:endParaRPr lang="en-US" altLang="zh-CN" sz="2800" dirty="0">
              <a:latin typeface="宋体" pitchFamily="2" charset="-122"/>
              <a:ea typeface="宋体"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a:t>
            </a:fld>
            <a:endParaRPr lang="zh-CN" altLang="en-US"/>
          </a:p>
        </p:txBody>
      </p:sp>
      <p:pic>
        <p:nvPicPr>
          <p:cNvPr id="7" name="图片 6">
            <a:extLst>
              <a:ext uri="{FF2B5EF4-FFF2-40B4-BE49-F238E27FC236}">
                <a16:creationId xmlns:a16="http://schemas.microsoft.com/office/drawing/2014/main" id="{85742671-2174-1F6B-B7FE-5096119522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1556792"/>
            <a:ext cx="4037434" cy="3157273"/>
          </a:xfrm>
          <a:prstGeom prst="rect">
            <a:avLst/>
          </a:prstGeom>
        </p:spPr>
      </p:pic>
      <p:pic>
        <p:nvPicPr>
          <p:cNvPr id="9" name="图片 8">
            <a:extLst>
              <a:ext uri="{FF2B5EF4-FFF2-40B4-BE49-F238E27FC236}">
                <a16:creationId xmlns:a16="http://schemas.microsoft.com/office/drawing/2014/main" id="{85AE5F2F-7900-F1E1-F83B-ED5A75986F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200" y="1394119"/>
            <a:ext cx="3503240" cy="35008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冲突管理是什么？</a:t>
            </a:r>
            <a:br>
              <a:rPr lang="en-US" altLang="zh-CN" dirty="0"/>
            </a:br>
            <a:r>
              <a:rPr lang="en-US" altLang="zh-CN" sz="2700" dirty="0"/>
              <a:t>——</a:t>
            </a:r>
            <a:r>
              <a:rPr lang="zh-CN" altLang="en-US" sz="2700" dirty="0"/>
              <a:t>个体内的冲突</a:t>
            </a:r>
          </a:p>
        </p:txBody>
      </p:sp>
      <p:sp>
        <p:nvSpPr>
          <p:cNvPr id="3" name="内容占位符 2"/>
          <p:cNvSpPr>
            <a:spLocks noGrp="1"/>
          </p:cNvSpPr>
          <p:nvPr>
            <p:ph idx="1"/>
          </p:nvPr>
        </p:nvSpPr>
        <p:spPr>
          <a:xfrm>
            <a:off x="285720" y="1628800"/>
            <a:ext cx="8572560" cy="4896544"/>
          </a:xfrm>
        </p:spPr>
        <p:txBody>
          <a:bodyPr>
            <a:normAutofit/>
          </a:bodyPr>
          <a:lstStyle/>
          <a:p>
            <a:r>
              <a:rPr lang="zh-CN" altLang="en-US" sz="2800" dirty="0">
                <a:latin typeface="宋体" pitchFamily="2" charset="-122"/>
                <a:ea typeface="宋体" pitchFamily="2" charset="-122"/>
              </a:rPr>
              <a:t>人的无助感：压力、压抑、忧郁、麻木、空洞等问题；</a:t>
            </a:r>
          </a:p>
          <a:p>
            <a:pPr marL="0" indent="0">
              <a:buNone/>
            </a:pPr>
            <a:r>
              <a:rPr lang="zh-CN" altLang="en-US" sz="2800" dirty="0">
                <a:latin typeface="宋体" pitchFamily="2" charset="-122"/>
                <a:ea typeface="宋体" pitchFamily="2" charset="-122"/>
              </a:rPr>
              <a:t>  是个体内部自身冲突的各种表现；</a:t>
            </a:r>
          </a:p>
          <a:p>
            <a:r>
              <a:rPr lang="zh-CN" altLang="en-US" sz="2800" dirty="0">
                <a:latin typeface="宋体" pitchFamily="2" charset="-122"/>
                <a:ea typeface="宋体" pitchFamily="2" charset="-122"/>
              </a:rPr>
              <a:t>其根源：我是谁？我该干什么？我该怎么干？无数困难挫折怎么办？</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a:t>
            </a:r>
          </a:p>
          <a:p>
            <a:pPr marL="0" indent="0">
              <a:buNone/>
            </a:pP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自我（自我意识、自我概念</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）：对自己各个方面、对世界（充满人造主观性、忽悠性）有没有确定的认识，有没有自信？</a:t>
            </a:r>
            <a:endParaRPr lang="en-US" altLang="zh-CN" sz="2800" dirty="0">
              <a:latin typeface="宋体" pitchFamily="2" charset="-122"/>
              <a:ea typeface="宋体" pitchFamily="2" charset="-122"/>
            </a:endParaRPr>
          </a:p>
        </p:txBody>
      </p:sp>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100" b="0" i="0" u="none" strike="noStrike" kern="1200" cap="none" spc="0" normalizeH="0" baseline="0" noProof="0" smtClean="0">
                <a:ln>
                  <a:noFill/>
                </a:ln>
                <a:solidFill>
                  <a:srgbClr val="2F2F2F">
                    <a:lumMod val="75000"/>
                    <a:lumOff val="25000"/>
                  </a:srgbClr>
                </a:solidFill>
                <a:effectLst/>
                <a:uLnTx/>
                <a:uFillTx/>
                <a:latin typeface="Franklin Gothic Book"/>
                <a:ea typeface="黑体" panose="020106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zh-CN" altLang="en-US" sz="1100" b="0" i="0" u="none" strike="noStrike" kern="1200" cap="none" spc="0" normalizeH="0" baseline="0" noProof="0">
              <a:ln>
                <a:noFill/>
              </a:ln>
              <a:solidFill>
                <a:srgbClr val="2F2F2F">
                  <a:lumMod val="75000"/>
                  <a:lumOff val="25000"/>
                </a:srgbClr>
              </a:solidFill>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1399721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冲突管理是什么？</a:t>
            </a:r>
            <a:br>
              <a:rPr lang="en-US" altLang="zh-CN" sz="2800" dirty="0"/>
            </a:br>
            <a:r>
              <a:rPr lang="en-US" altLang="zh-CN" sz="2800" dirty="0"/>
              <a:t>——</a:t>
            </a:r>
            <a:r>
              <a:rPr lang="zh-CN" altLang="en-US" sz="2800" dirty="0"/>
              <a:t>个体间的冲突？</a:t>
            </a:r>
          </a:p>
        </p:txBody>
      </p:sp>
      <p:sp>
        <p:nvSpPr>
          <p:cNvPr id="3" name="内容占位符 2"/>
          <p:cNvSpPr>
            <a:spLocks noGrp="1"/>
          </p:cNvSpPr>
          <p:nvPr>
            <p:ph idx="1"/>
          </p:nvPr>
        </p:nvSpPr>
        <p:spPr>
          <a:xfrm>
            <a:off x="285720" y="5373216"/>
            <a:ext cx="8572560" cy="1270494"/>
          </a:xfrm>
        </p:spPr>
        <p:txBody>
          <a:bodyPr>
            <a:normAutofit/>
          </a:bodyPr>
          <a:lstStyle/>
          <a:p>
            <a:pPr>
              <a:buNone/>
            </a:pPr>
            <a:r>
              <a:rPr lang="zh-CN" altLang="en-US" sz="2800" dirty="0">
                <a:latin typeface="宋体" pitchFamily="2" charset="-122"/>
                <a:ea typeface="宋体" pitchFamily="2" charset="-122"/>
              </a:rPr>
              <a:t>路怒症现象互作用。</a:t>
            </a:r>
            <a:endParaRPr lang="en-US" altLang="zh-CN" sz="2800" dirty="0">
              <a:latin typeface="宋体" pitchFamily="2" charset="-122"/>
              <a:ea typeface="宋体"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7</a:t>
            </a:fld>
            <a:endParaRPr lang="zh-CN" altLang="en-US"/>
          </a:p>
        </p:txBody>
      </p:sp>
      <p:pic>
        <p:nvPicPr>
          <p:cNvPr id="8" name="图片 7">
            <a:extLst>
              <a:ext uri="{FF2B5EF4-FFF2-40B4-BE49-F238E27FC236}">
                <a16:creationId xmlns:a16="http://schemas.microsoft.com/office/drawing/2014/main" id="{08C20A01-0B46-AC31-9190-3D7DF7CD3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638300"/>
            <a:ext cx="4037434" cy="3581400"/>
          </a:xfrm>
          <a:prstGeom prst="rect">
            <a:avLst/>
          </a:prstGeom>
        </p:spPr>
      </p:pic>
      <p:pic>
        <p:nvPicPr>
          <p:cNvPr id="10" name="图片 9">
            <a:extLst>
              <a:ext uri="{FF2B5EF4-FFF2-40B4-BE49-F238E27FC236}">
                <a16:creationId xmlns:a16="http://schemas.microsoft.com/office/drawing/2014/main" id="{4A6DB275-DD81-A96F-C71E-F702431B77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9368" y="1646694"/>
            <a:ext cx="4494632" cy="3573006"/>
          </a:xfrm>
          <a:prstGeom prst="rect">
            <a:avLst/>
          </a:prstGeom>
        </p:spPr>
      </p:pic>
    </p:spTree>
    <p:extLst>
      <p:ext uri="{BB962C8B-B14F-4D97-AF65-F5344CB8AC3E}">
        <p14:creationId xmlns:p14="http://schemas.microsoft.com/office/powerpoint/2010/main" val="838340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冲突管理是什么？</a:t>
            </a:r>
            <a:br>
              <a:rPr lang="en-US" altLang="zh-CN" sz="2800" dirty="0"/>
            </a:br>
            <a:r>
              <a:rPr lang="en-US" altLang="zh-CN" sz="2800" dirty="0"/>
              <a:t>——</a:t>
            </a:r>
            <a:r>
              <a:rPr lang="zh-CN" altLang="en-US" sz="2800" dirty="0"/>
              <a:t>群体间的冲突？</a:t>
            </a:r>
          </a:p>
        </p:txBody>
      </p:sp>
      <p:sp>
        <p:nvSpPr>
          <p:cNvPr id="3" name="内容占位符 2"/>
          <p:cNvSpPr>
            <a:spLocks noGrp="1"/>
          </p:cNvSpPr>
          <p:nvPr>
            <p:ph idx="1"/>
          </p:nvPr>
        </p:nvSpPr>
        <p:spPr>
          <a:xfrm>
            <a:off x="285720" y="5877272"/>
            <a:ext cx="8572560" cy="766438"/>
          </a:xfrm>
        </p:spPr>
        <p:txBody>
          <a:bodyPr>
            <a:normAutofit/>
          </a:bodyPr>
          <a:lstStyle/>
          <a:p>
            <a:pPr>
              <a:buNone/>
            </a:pPr>
            <a:r>
              <a:rPr lang="zh-CN" altLang="en-US" sz="2800" dirty="0">
                <a:latin typeface="宋体" pitchFamily="2" charset="-122"/>
                <a:ea typeface="宋体" pitchFamily="2" charset="-122"/>
              </a:rPr>
              <a:t>路怒症现象互作用。</a:t>
            </a:r>
            <a:endParaRPr lang="en-US" altLang="zh-CN" sz="2800" dirty="0">
              <a:latin typeface="宋体" pitchFamily="2" charset="-122"/>
              <a:ea typeface="宋体"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8</a:t>
            </a:fld>
            <a:endParaRPr lang="zh-CN" altLang="en-US"/>
          </a:p>
        </p:txBody>
      </p:sp>
      <p:pic>
        <p:nvPicPr>
          <p:cNvPr id="6" name="图片 5">
            <a:extLst>
              <a:ext uri="{FF2B5EF4-FFF2-40B4-BE49-F238E27FC236}">
                <a16:creationId xmlns:a16="http://schemas.microsoft.com/office/drawing/2014/main" id="{85B23A3C-925D-2913-2F2D-0ADFD41E06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448464"/>
            <a:ext cx="3859132" cy="4177329"/>
          </a:xfrm>
          <a:prstGeom prst="rect">
            <a:avLst/>
          </a:prstGeom>
        </p:spPr>
      </p:pic>
      <p:pic>
        <p:nvPicPr>
          <p:cNvPr id="9" name="图片 8">
            <a:extLst>
              <a:ext uri="{FF2B5EF4-FFF2-40B4-BE49-F238E27FC236}">
                <a16:creationId xmlns:a16="http://schemas.microsoft.com/office/drawing/2014/main" id="{B3E098AC-1CF6-D919-A812-9D47EC9BA3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2642" y="1283543"/>
            <a:ext cx="3859132" cy="4809753"/>
          </a:xfrm>
          <a:prstGeom prst="rect">
            <a:avLst/>
          </a:prstGeom>
        </p:spPr>
      </p:pic>
    </p:spTree>
    <p:extLst>
      <p:ext uri="{BB962C8B-B14F-4D97-AF65-F5344CB8AC3E}">
        <p14:creationId xmlns:p14="http://schemas.microsoft.com/office/powerpoint/2010/main" val="2587750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6F2B51-EA1A-4703-9531-EED0699FB2BC}"/>
              </a:ext>
            </a:extLst>
          </p:cNvPr>
          <p:cNvSpPr>
            <a:spLocks noGrp="1"/>
          </p:cNvSpPr>
          <p:nvPr>
            <p:ph type="title"/>
          </p:nvPr>
        </p:nvSpPr>
        <p:spPr/>
        <p:txBody>
          <a:bodyPr>
            <a:normAutofit fontScale="90000"/>
          </a:bodyPr>
          <a:lstStyle/>
          <a:p>
            <a:r>
              <a:rPr lang="zh-CN" altLang="en-US" dirty="0"/>
              <a:t>冲突管理是什么？</a:t>
            </a:r>
            <a:br>
              <a:rPr lang="zh-CN" altLang="en-US" dirty="0"/>
            </a:br>
            <a:r>
              <a:rPr lang="en-US" altLang="zh-CN" dirty="0"/>
              <a:t>——</a:t>
            </a:r>
            <a:r>
              <a:rPr lang="zh-CN" altLang="en-US" dirty="0"/>
              <a:t>什么是冲突？</a:t>
            </a:r>
          </a:p>
        </p:txBody>
      </p:sp>
      <p:sp>
        <p:nvSpPr>
          <p:cNvPr id="3" name="内容占位符 2">
            <a:extLst>
              <a:ext uri="{FF2B5EF4-FFF2-40B4-BE49-F238E27FC236}">
                <a16:creationId xmlns:a16="http://schemas.microsoft.com/office/drawing/2014/main" id="{0A301216-E8C9-47D4-A9AB-6A00CAE464E9}"/>
              </a:ext>
            </a:extLst>
          </p:cNvPr>
          <p:cNvSpPr>
            <a:spLocks noGrp="1"/>
          </p:cNvSpPr>
          <p:nvPr>
            <p:ph idx="1"/>
          </p:nvPr>
        </p:nvSpPr>
        <p:spPr/>
        <p:txBody>
          <a:bodyPr>
            <a:normAutofit lnSpcReduction="10000"/>
          </a:bodyPr>
          <a:lstStyle/>
          <a:p>
            <a:r>
              <a:rPr lang="zh-CN" altLang="en-US" sz="2400" dirty="0">
                <a:latin typeface="楷体" panose="02010609060101010101" pitchFamily="49" charset="-122"/>
                <a:ea typeface="楷体" panose="02010609060101010101" pitchFamily="49" charset="-122"/>
              </a:rPr>
              <a:t>可见，冲突这个概念很大，包括了看到的、经历的一切对立与不一致</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个体的、人际的、群体（团队的）、组织的、社区的、社会的、国家的、世界的等等层次的冲突，</a:t>
            </a:r>
          </a:p>
          <a:p>
            <a:r>
              <a:rPr lang="zh-CN" altLang="en-US" sz="2400" dirty="0">
                <a:latin typeface="楷体" panose="02010609060101010101" pitchFamily="49" charset="-122"/>
                <a:ea typeface="楷体" panose="02010609060101010101" pitchFamily="49" charset="-122"/>
              </a:rPr>
              <a:t>具体的内容形式也多种多样：个体内心的各种思虑；人际的各种价值、偏好、利益冲突；群体的规则、认同、任务；社会的文化、价值观、活动冲突；等等。</a:t>
            </a:r>
            <a:endParaRPr lang="en-US" altLang="zh-CN"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因此，在冲突这个涵盖内容包括多层次、广泛内容的概念下，谈冲突管理，就很难陷入什么都是冲突管理的迷阵。</a:t>
            </a:r>
            <a:endParaRPr lang="en-US" altLang="zh-CN"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学习冲突管理，应该建立在我们对这个概念有清晰的界定，对其内容框架有个逻辑合理的界定。</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这是我们学习任何知识的基础。</a:t>
            </a:r>
            <a:endParaRPr lang="en-US" altLang="zh-CN"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本课程将基于管理学的角度，对冲突与冲突管理进行定义。</a:t>
            </a:r>
            <a:endParaRPr lang="zh-CN" altLang="en-US" dirty="0"/>
          </a:p>
        </p:txBody>
      </p:sp>
      <p:sp>
        <p:nvSpPr>
          <p:cNvPr id="4" name="灯片编号占位符 3">
            <a:extLst>
              <a:ext uri="{FF2B5EF4-FFF2-40B4-BE49-F238E27FC236}">
                <a16:creationId xmlns:a16="http://schemas.microsoft.com/office/drawing/2014/main" id="{88830E2C-E74D-4A65-B06E-0FE96A2667C9}"/>
              </a:ext>
            </a:extLst>
          </p:cNvPr>
          <p:cNvSpPr>
            <a:spLocks noGrp="1"/>
          </p:cNvSpPr>
          <p:nvPr>
            <p:ph type="sldNum" sz="quarter" idx="12"/>
          </p:nvPr>
        </p:nvSpPr>
        <p:spPr/>
        <p:txBody>
          <a:bodyPr/>
          <a:lstStyle/>
          <a:p>
            <a:fld id="{0C913308-F349-4B6D-A68A-DD1791B4A57B}" type="slidenum">
              <a:rPr lang="zh-CN" altLang="en-US" smtClean="0"/>
              <a:pPr/>
              <a:t>9</a:t>
            </a:fld>
            <a:endParaRPr lang="zh-CN" altLang="en-US"/>
          </a:p>
        </p:txBody>
      </p:sp>
    </p:spTree>
    <p:extLst>
      <p:ext uri="{BB962C8B-B14F-4D97-AF65-F5344CB8AC3E}">
        <p14:creationId xmlns:p14="http://schemas.microsoft.com/office/powerpoint/2010/main" val="1959097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t>冲突管理是什么？</a:t>
            </a:r>
            <a:br>
              <a:rPr lang="zh-CN" altLang="en-US" sz="3200" dirty="0"/>
            </a:br>
            <a:r>
              <a:rPr lang="en-US" altLang="zh-CN" sz="3200" dirty="0"/>
              <a:t>——</a:t>
            </a:r>
            <a:r>
              <a:rPr lang="zh-CN" altLang="en-US" sz="3200" dirty="0"/>
              <a:t>冲突有益吗？</a:t>
            </a:r>
          </a:p>
        </p:txBody>
      </p:sp>
      <p:sp>
        <p:nvSpPr>
          <p:cNvPr id="3" name="内容占位符 2"/>
          <p:cNvSpPr>
            <a:spLocks noGrp="1"/>
          </p:cNvSpPr>
          <p:nvPr>
            <p:ph idx="1"/>
          </p:nvPr>
        </p:nvSpPr>
        <p:spPr>
          <a:xfrm>
            <a:off x="285720" y="1357298"/>
            <a:ext cx="8572560" cy="2534200"/>
          </a:xfrm>
        </p:spPr>
        <p:txBody>
          <a:bodyPr>
            <a:normAutofit/>
          </a:bodyPr>
          <a:lstStyle/>
          <a:p>
            <a:pPr>
              <a:buFont typeface="Wingdings" pitchFamily="2" charset="2"/>
              <a:buChar char="Ø"/>
            </a:pPr>
            <a:r>
              <a:rPr lang="zh-CN" altLang="en-US" sz="2800" dirty="0">
                <a:latin typeface="宋体" pitchFamily="2" charset="-122"/>
                <a:ea typeface="宋体" pitchFamily="2" charset="-122"/>
              </a:rPr>
              <a:t>具体的冲突内容形式也多种多样：个体内心的各种思虑、人际的各种价值、偏好、利益；群体的规则、认同、任务；社会的文化、价值观、活动；等等。</a:t>
            </a:r>
            <a:endParaRPr lang="en-US" altLang="zh-CN" sz="2800" dirty="0">
              <a:latin typeface="宋体" pitchFamily="2" charset="-122"/>
              <a:ea typeface="宋体" pitchFamily="2" charset="-122"/>
            </a:endParaRPr>
          </a:p>
          <a:p>
            <a:pPr>
              <a:buFont typeface="Wingdings" pitchFamily="2" charset="2"/>
              <a:buChar char="Ø"/>
            </a:pPr>
            <a:r>
              <a:rPr lang="zh-CN" altLang="en-US" sz="2800" dirty="0">
                <a:latin typeface="宋体" pitchFamily="2" charset="-122"/>
                <a:ea typeface="宋体" pitchFamily="2" charset="-122"/>
              </a:rPr>
              <a:t>对冲突的性质与意义的不同认知，导致不同的冲突管理的思路：</a:t>
            </a:r>
          </a:p>
        </p:txBody>
      </p:sp>
      <p:sp>
        <p:nvSpPr>
          <p:cNvPr id="4" name="TextBox 3"/>
          <p:cNvSpPr txBox="1"/>
          <p:nvPr/>
        </p:nvSpPr>
        <p:spPr>
          <a:xfrm>
            <a:off x="2064119" y="4293096"/>
            <a:ext cx="1139730" cy="369332"/>
          </a:xfrm>
          <a:prstGeom prst="rect">
            <a:avLst/>
          </a:prstGeom>
          <a:noFill/>
          <a:ln>
            <a:solidFill>
              <a:schemeClr val="accent1"/>
            </a:solidFill>
          </a:ln>
        </p:spPr>
        <p:txBody>
          <a:bodyPr wrap="square" rtlCol="0">
            <a:spAutoFit/>
          </a:bodyPr>
          <a:lstStyle/>
          <a:p>
            <a:r>
              <a:rPr lang="zh-CN" altLang="en-US" dirty="0"/>
              <a:t>冲突有害</a:t>
            </a:r>
          </a:p>
        </p:txBody>
      </p:sp>
      <p:sp>
        <p:nvSpPr>
          <p:cNvPr id="6" name="TextBox 5"/>
          <p:cNvSpPr txBox="1"/>
          <p:nvPr/>
        </p:nvSpPr>
        <p:spPr>
          <a:xfrm>
            <a:off x="1691680" y="4830657"/>
            <a:ext cx="1728192" cy="369332"/>
          </a:xfrm>
          <a:prstGeom prst="rect">
            <a:avLst/>
          </a:prstGeom>
          <a:noFill/>
          <a:ln>
            <a:solidFill>
              <a:schemeClr val="accent1"/>
            </a:solidFill>
          </a:ln>
        </p:spPr>
        <p:txBody>
          <a:bodyPr wrap="square" rtlCol="0">
            <a:spAutoFit/>
          </a:bodyPr>
          <a:lstStyle/>
          <a:p>
            <a:r>
              <a:rPr lang="zh-CN" altLang="en-US" dirty="0"/>
              <a:t>冲突无可避免</a:t>
            </a:r>
          </a:p>
        </p:txBody>
      </p:sp>
      <p:sp>
        <p:nvSpPr>
          <p:cNvPr id="8" name="TextBox 7"/>
          <p:cNvSpPr txBox="1"/>
          <p:nvPr/>
        </p:nvSpPr>
        <p:spPr>
          <a:xfrm>
            <a:off x="2064119" y="5517232"/>
            <a:ext cx="1350652" cy="369332"/>
          </a:xfrm>
          <a:prstGeom prst="rect">
            <a:avLst/>
          </a:prstGeom>
          <a:noFill/>
          <a:ln>
            <a:solidFill>
              <a:schemeClr val="accent1"/>
            </a:solidFill>
          </a:ln>
        </p:spPr>
        <p:txBody>
          <a:bodyPr wrap="square" rtlCol="0">
            <a:spAutoFit/>
          </a:bodyPr>
          <a:lstStyle/>
          <a:p>
            <a:r>
              <a:rPr lang="zh-CN" altLang="en-US" dirty="0"/>
              <a:t>冲突有益</a:t>
            </a:r>
          </a:p>
        </p:txBody>
      </p:sp>
      <p:sp>
        <p:nvSpPr>
          <p:cNvPr id="10" name="TextBox 9"/>
          <p:cNvSpPr txBox="1"/>
          <p:nvPr/>
        </p:nvSpPr>
        <p:spPr>
          <a:xfrm>
            <a:off x="5004048" y="4260830"/>
            <a:ext cx="1139730" cy="369332"/>
          </a:xfrm>
          <a:prstGeom prst="rect">
            <a:avLst/>
          </a:prstGeom>
          <a:noFill/>
          <a:ln>
            <a:solidFill>
              <a:schemeClr val="accent1"/>
            </a:solidFill>
          </a:ln>
        </p:spPr>
        <p:txBody>
          <a:bodyPr wrap="square" rtlCol="0">
            <a:spAutoFit/>
          </a:bodyPr>
          <a:lstStyle/>
          <a:p>
            <a:r>
              <a:rPr lang="zh-CN" altLang="en-US" dirty="0"/>
              <a:t>避免冲突</a:t>
            </a:r>
          </a:p>
        </p:txBody>
      </p:sp>
      <p:sp>
        <p:nvSpPr>
          <p:cNvPr id="11" name="TextBox 10"/>
          <p:cNvSpPr txBox="1"/>
          <p:nvPr/>
        </p:nvSpPr>
        <p:spPr>
          <a:xfrm>
            <a:off x="5040100" y="4692157"/>
            <a:ext cx="1139730" cy="646331"/>
          </a:xfrm>
          <a:prstGeom prst="rect">
            <a:avLst/>
          </a:prstGeom>
          <a:noFill/>
          <a:ln>
            <a:solidFill>
              <a:schemeClr val="accent1"/>
            </a:solidFill>
          </a:ln>
        </p:spPr>
        <p:txBody>
          <a:bodyPr wrap="square" rtlCol="0">
            <a:spAutoFit/>
          </a:bodyPr>
          <a:lstStyle/>
          <a:p>
            <a:r>
              <a:rPr lang="zh-CN" altLang="en-US" dirty="0"/>
              <a:t>管理冲突不恶化</a:t>
            </a:r>
          </a:p>
        </p:txBody>
      </p:sp>
      <p:sp>
        <p:nvSpPr>
          <p:cNvPr id="12" name="TextBox 11"/>
          <p:cNvSpPr txBox="1"/>
          <p:nvPr/>
        </p:nvSpPr>
        <p:spPr>
          <a:xfrm>
            <a:off x="5004544" y="5489594"/>
            <a:ext cx="1350652" cy="646331"/>
          </a:xfrm>
          <a:prstGeom prst="rect">
            <a:avLst/>
          </a:prstGeom>
          <a:noFill/>
          <a:ln>
            <a:solidFill>
              <a:schemeClr val="accent1"/>
            </a:solidFill>
          </a:ln>
        </p:spPr>
        <p:txBody>
          <a:bodyPr wrap="square" rtlCol="0">
            <a:spAutoFit/>
          </a:bodyPr>
          <a:lstStyle/>
          <a:p>
            <a:r>
              <a:rPr lang="zh-CN" altLang="en-US" dirty="0"/>
              <a:t>与冲突共存与发展</a:t>
            </a:r>
          </a:p>
        </p:txBody>
      </p:sp>
      <p:sp>
        <p:nvSpPr>
          <p:cNvPr id="13" name="TextBox 12"/>
          <p:cNvSpPr txBox="1"/>
          <p:nvPr/>
        </p:nvSpPr>
        <p:spPr>
          <a:xfrm>
            <a:off x="2555776" y="6135925"/>
            <a:ext cx="4176464" cy="369332"/>
          </a:xfrm>
          <a:prstGeom prst="rect">
            <a:avLst/>
          </a:prstGeom>
          <a:noFill/>
          <a:ln>
            <a:noFill/>
          </a:ln>
        </p:spPr>
        <p:txBody>
          <a:bodyPr wrap="square" rtlCol="0">
            <a:spAutoFit/>
          </a:bodyPr>
          <a:lstStyle/>
          <a:p>
            <a:r>
              <a:rPr lang="zh-CN" altLang="en-US" dirty="0"/>
              <a:t>冲突管理的思路（罗宾斯，</a:t>
            </a:r>
            <a:r>
              <a:rPr lang="en-US" altLang="zh-CN" dirty="0"/>
              <a:t>2005</a:t>
            </a:r>
            <a:r>
              <a:rPr lang="zh-CN" altLang="en-US" dirty="0"/>
              <a:t>）</a:t>
            </a:r>
          </a:p>
        </p:txBody>
      </p:sp>
      <p:cxnSp>
        <p:nvCxnSpPr>
          <p:cNvPr id="14" name="直接箭头连接符 13"/>
          <p:cNvCxnSpPr>
            <a:stCxn id="4" idx="3"/>
            <a:endCxn id="10" idx="1"/>
          </p:cNvCxnSpPr>
          <p:nvPr/>
        </p:nvCxnSpPr>
        <p:spPr>
          <a:xfrm flipV="1">
            <a:off x="3203849" y="4445496"/>
            <a:ext cx="1800199" cy="322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6" idx="3"/>
          </p:cNvCxnSpPr>
          <p:nvPr/>
        </p:nvCxnSpPr>
        <p:spPr>
          <a:xfrm>
            <a:off x="3419872" y="5015323"/>
            <a:ext cx="15846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8" idx="3"/>
          </p:cNvCxnSpPr>
          <p:nvPr/>
        </p:nvCxnSpPr>
        <p:spPr>
          <a:xfrm>
            <a:off x="3414771" y="5701898"/>
            <a:ext cx="158927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6516216" y="4091553"/>
            <a:ext cx="2592288" cy="1600438"/>
          </a:xfrm>
          <a:prstGeom prst="rect">
            <a:avLst/>
          </a:prstGeom>
          <a:noFill/>
        </p:spPr>
        <p:txBody>
          <a:bodyPr wrap="square" rtlCol="0">
            <a:spAutoFit/>
          </a:bodyPr>
          <a:lstStyle/>
          <a:p>
            <a:r>
              <a:rPr lang="zh-CN" altLang="en-US" sz="1400" dirty="0">
                <a:latin typeface="仿宋" pitchFamily="49" charset="-122"/>
                <a:ea typeface="仿宋" pitchFamily="49" charset="-122"/>
              </a:rPr>
              <a:t>以家庭父子冲突为例，如果父亲认为冲突：</a:t>
            </a:r>
            <a:endParaRPr lang="en-US" altLang="zh-CN" sz="1400" dirty="0">
              <a:latin typeface="仿宋" pitchFamily="49" charset="-122"/>
              <a:ea typeface="仿宋" pitchFamily="49" charset="-122"/>
            </a:endParaRPr>
          </a:p>
          <a:p>
            <a:r>
              <a:rPr lang="en-US" altLang="zh-CN" sz="1400" dirty="0">
                <a:latin typeface="仿宋" pitchFamily="49" charset="-122"/>
                <a:ea typeface="仿宋" pitchFamily="49" charset="-122"/>
              </a:rPr>
              <a:t>1</a:t>
            </a:r>
            <a:r>
              <a:rPr lang="zh-CN" altLang="en-US" sz="1400" dirty="0">
                <a:latin typeface="仿宋" pitchFamily="49" charset="-122"/>
                <a:ea typeface="仿宋" pitchFamily="49" charset="-122"/>
              </a:rPr>
              <a:t>有害：认知与行为</a:t>
            </a:r>
            <a:r>
              <a:rPr lang="en-US" altLang="zh-CN" sz="1400" dirty="0">
                <a:latin typeface="仿宋" pitchFamily="49" charset="-122"/>
                <a:ea typeface="仿宋" pitchFamily="49" charset="-122"/>
              </a:rPr>
              <a:t>--</a:t>
            </a:r>
            <a:r>
              <a:rPr lang="zh-CN" altLang="en-US" sz="1400" dirty="0">
                <a:latin typeface="仿宋" pitchFamily="49" charset="-122"/>
                <a:ea typeface="仿宋" pitchFamily="49" charset="-122"/>
              </a:rPr>
              <a:t>避免</a:t>
            </a:r>
            <a:endParaRPr lang="en-US" altLang="zh-CN" sz="1400" dirty="0">
              <a:latin typeface="仿宋" pitchFamily="49" charset="-122"/>
              <a:ea typeface="仿宋" pitchFamily="49" charset="-122"/>
            </a:endParaRPr>
          </a:p>
          <a:p>
            <a:r>
              <a:rPr lang="en-US" altLang="zh-CN" sz="1400" dirty="0">
                <a:latin typeface="仿宋" pitchFamily="49" charset="-122"/>
                <a:ea typeface="仿宋" pitchFamily="49" charset="-122"/>
              </a:rPr>
              <a:t>2</a:t>
            </a:r>
            <a:r>
              <a:rPr lang="zh-CN" altLang="en-US" sz="1400" dirty="0">
                <a:latin typeface="仿宋" pitchFamily="49" charset="-122"/>
                <a:ea typeface="仿宋" pitchFamily="49" charset="-122"/>
              </a:rPr>
              <a:t>定有：认知与行为</a:t>
            </a:r>
            <a:r>
              <a:rPr lang="en-US" altLang="zh-CN" sz="1400" dirty="0">
                <a:latin typeface="仿宋" pitchFamily="49" charset="-122"/>
                <a:ea typeface="仿宋" pitchFamily="49" charset="-122"/>
              </a:rPr>
              <a:t>—</a:t>
            </a:r>
            <a:r>
              <a:rPr lang="zh-CN" altLang="en-US" sz="1400" dirty="0">
                <a:latin typeface="仿宋" pitchFamily="49" charset="-122"/>
                <a:ea typeface="仿宋" pitchFamily="49" charset="-122"/>
              </a:rPr>
              <a:t>不恶化</a:t>
            </a:r>
            <a:endParaRPr lang="en-US" altLang="zh-CN" sz="1400" dirty="0">
              <a:latin typeface="仿宋" pitchFamily="49" charset="-122"/>
              <a:ea typeface="仿宋" pitchFamily="49" charset="-122"/>
            </a:endParaRPr>
          </a:p>
          <a:p>
            <a:r>
              <a:rPr lang="en-US" altLang="zh-CN" sz="1400" dirty="0">
                <a:latin typeface="仿宋" pitchFamily="49" charset="-122"/>
                <a:ea typeface="仿宋" pitchFamily="49" charset="-122"/>
              </a:rPr>
              <a:t>3</a:t>
            </a:r>
            <a:r>
              <a:rPr lang="zh-CN" altLang="en-US" sz="1400" dirty="0">
                <a:latin typeface="仿宋" pitchFamily="49" charset="-122"/>
                <a:ea typeface="仿宋" pitchFamily="49" charset="-122"/>
              </a:rPr>
              <a:t>有益：识别问题，改善与发展机会</a:t>
            </a:r>
            <a:endParaRPr lang="en-US" altLang="zh-CN" sz="1400" dirty="0">
              <a:latin typeface="仿宋" pitchFamily="49" charset="-122"/>
              <a:ea typeface="仿宋" pitchFamily="49" charset="-122"/>
            </a:endParaRPr>
          </a:p>
          <a:p>
            <a:r>
              <a:rPr lang="zh-CN" altLang="en-US" sz="1400" dirty="0">
                <a:latin typeface="仿宋" pitchFamily="49" charset="-122"/>
                <a:ea typeface="仿宋" pitchFamily="49" charset="-122"/>
              </a:rPr>
              <a:t>何者为好？</a:t>
            </a:r>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冲突管理是什么？</a:t>
            </a:r>
            <a:br>
              <a:rPr lang="en-US" altLang="zh-CN" dirty="0"/>
            </a:br>
            <a:r>
              <a:rPr lang="en-US" altLang="zh-CN" dirty="0"/>
              <a:t>——</a:t>
            </a:r>
            <a:r>
              <a:rPr lang="zh-CN" altLang="en-US" dirty="0"/>
              <a:t>什么是冲突？</a:t>
            </a:r>
          </a:p>
        </p:txBody>
      </p:sp>
      <p:sp>
        <p:nvSpPr>
          <p:cNvPr id="3" name="内容占位符 2"/>
          <p:cNvSpPr>
            <a:spLocks noGrp="1"/>
          </p:cNvSpPr>
          <p:nvPr>
            <p:ph idx="1"/>
          </p:nvPr>
        </p:nvSpPr>
        <p:spPr>
          <a:xfrm>
            <a:off x="457200" y="1500174"/>
            <a:ext cx="8229600" cy="857256"/>
          </a:xfrm>
        </p:spPr>
        <p:txBody>
          <a:bodyPr>
            <a:normAutofit/>
          </a:bodyPr>
          <a:lstStyle/>
          <a:p>
            <a:r>
              <a:rPr lang="zh-CN" altLang="en-US" sz="2800" dirty="0">
                <a:latin typeface="华文宋体" pitchFamily="2" charset="-122"/>
                <a:ea typeface="华文宋体" pitchFamily="2" charset="-122"/>
              </a:rPr>
              <a:t>冲突是仅次于上帝和爱之外充斥于人们之间的主</a:t>
            </a:r>
          </a:p>
        </p:txBody>
      </p:sp>
      <p:sp>
        <p:nvSpPr>
          <p:cNvPr id="4" name="左大括号 3"/>
          <p:cNvSpPr/>
          <p:nvPr/>
        </p:nvSpPr>
        <p:spPr>
          <a:xfrm>
            <a:off x="214282" y="4429132"/>
            <a:ext cx="285752" cy="1285884"/>
          </a:xfrm>
          <a:prstGeom prst="leftBrace">
            <a:avLst/>
          </a:prstGeom>
          <a:solidFill>
            <a:schemeClr val="accent1"/>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dirty="0"/>
          </a:p>
        </p:txBody>
      </p:sp>
      <p:pic>
        <p:nvPicPr>
          <p:cNvPr id="1026" name="Picture 2"/>
          <p:cNvPicPr>
            <a:picLocks noChangeAspect="1" noChangeArrowheads="1"/>
          </p:cNvPicPr>
          <p:nvPr/>
        </p:nvPicPr>
        <p:blipFill>
          <a:blip r:embed="rId2"/>
          <a:srcRect/>
          <a:stretch>
            <a:fillRect/>
          </a:stretch>
        </p:blipFill>
        <p:spPr bwMode="auto">
          <a:xfrm>
            <a:off x="214282" y="714356"/>
            <a:ext cx="8491566" cy="5951029"/>
          </a:xfrm>
          <a:prstGeom prst="rect">
            <a:avLst/>
          </a:prstGeom>
          <a:noFill/>
          <a:ln w="9525">
            <a:noFill/>
            <a:miter lim="800000"/>
            <a:headEnd/>
            <a:tailEnd/>
          </a:ln>
          <a:effectLst/>
        </p:spPr>
      </p:pic>
      <p:sp>
        <p:nvSpPr>
          <p:cNvPr id="5" name="灯片编号占位符 4"/>
          <p:cNvSpPr>
            <a:spLocks noGrp="1"/>
          </p:cNvSpPr>
          <p:nvPr>
            <p:ph type="sldNum" sz="quarter" idx="12"/>
          </p:nvPr>
        </p:nvSpPr>
        <p:spPr/>
        <p:txBody>
          <a:bodyPr/>
          <a:lstStyle/>
          <a:p>
            <a:fld id="{0C913308-F349-4B6D-A68A-DD1791B4A57B}" type="slidenum">
              <a:rPr lang="zh-CN" altLang="en-US" smtClean="0"/>
              <a:pPr/>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冲突管理是什么？</a:t>
            </a:r>
            <a:br>
              <a:rPr lang="en-US" altLang="zh-CN" dirty="0"/>
            </a:br>
            <a:r>
              <a:rPr lang="en-US" altLang="zh-CN" dirty="0"/>
              <a:t>——</a:t>
            </a:r>
            <a:r>
              <a:rPr lang="zh-CN" altLang="en-US" dirty="0"/>
              <a:t>什么是冲突？</a:t>
            </a:r>
          </a:p>
        </p:txBody>
      </p:sp>
      <p:sp>
        <p:nvSpPr>
          <p:cNvPr id="3" name="内容占位符 2"/>
          <p:cNvSpPr>
            <a:spLocks noGrp="1"/>
          </p:cNvSpPr>
          <p:nvPr>
            <p:ph idx="1"/>
          </p:nvPr>
        </p:nvSpPr>
        <p:spPr>
          <a:xfrm>
            <a:off x="457200" y="1500174"/>
            <a:ext cx="8229600" cy="4786346"/>
          </a:xfrm>
        </p:spPr>
        <p:txBody>
          <a:bodyPr>
            <a:noAutofit/>
          </a:bodyPr>
          <a:lstStyle/>
          <a:p>
            <a:r>
              <a:rPr lang="zh-CN" altLang="en-US" sz="2400" dirty="0">
                <a:latin typeface="华文宋体" pitchFamily="2" charset="-122"/>
                <a:ea typeface="华文宋体" pitchFamily="2" charset="-122"/>
              </a:rPr>
              <a:t>冲突的内容与形式多种多样，其具体层次表现：</a:t>
            </a:r>
            <a:endParaRPr lang="en-US" altLang="zh-CN" sz="2400" dirty="0">
              <a:latin typeface="华文宋体" pitchFamily="2" charset="-122"/>
              <a:ea typeface="华文宋体" pitchFamily="2" charset="-122"/>
            </a:endParaRPr>
          </a:p>
          <a:p>
            <a:pPr>
              <a:buFont typeface="Wingdings" pitchFamily="2" charset="2"/>
              <a:buChar char="Ø"/>
            </a:pPr>
            <a:r>
              <a:rPr lang="zh-CN" altLang="en-US" sz="2400" dirty="0">
                <a:latin typeface="华文宋体" pitchFamily="2" charset="-122"/>
                <a:ea typeface="华文宋体" pitchFamily="2" charset="-122"/>
              </a:rPr>
              <a:t>个体自身：个体自身角色、社会角色、人际交往、动机与欲望、价值与追求，导致的困惑、迷茫、矛盾、抑郁、精神失调等等；</a:t>
            </a:r>
            <a:endParaRPr lang="en-US" altLang="zh-CN" sz="2400" dirty="0">
              <a:latin typeface="华文宋体" pitchFamily="2" charset="-122"/>
              <a:ea typeface="华文宋体" pitchFamily="2" charset="-122"/>
            </a:endParaRPr>
          </a:p>
          <a:p>
            <a:pPr>
              <a:buFont typeface="Wingdings" pitchFamily="2" charset="2"/>
              <a:buChar char="Ø"/>
            </a:pPr>
            <a:r>
              <a:rPr lang="zh-CN" altLang="en-US" sz="2400" dirty="0">
                <a:latin typeface="华文宋体" pitchFamily="2" charset="-122"/>
                <a:ea typeface="华文宋体" pitchFamily="2" charset="-122"/>
              </a:rPr>
              <a:t>人际冲突：人际交往中行为、观念、价值观、利益等等；</a:t>
            </a:r>
            <a:endParaRPr lang="en-US" altLang="zh-CN" sz="2400" dirty="0">
              <a:latin typeface="华文宋体" pitchFamily="2" charset="-122"/>
              <a:ea typeface="华文宋体" pitchFamily="2" charset="-122"/>
            </a:endParaRPr>
          </a:p>
          <a:p>
            <a:pPr>
              <a:buFont typeface="Wingdings" pitchFamily="2" charset="2"/>
              <a:buChar char="Ø"/>
            </a:pPr>
            <a:r>
              <a:rPr lang="zh-CN" altLang="en-US" sz="2400" dirty="0">
                <a:latin typeface="华文宋体" pitchFamily="2" charset="-122"/>
                <a:ea typeface="华文宋体" pitchFamily="2" charset="-122"/>
              </a:rPr>
              <a:t>群体冲突：群体思维、任务、关系、利益等等；</a:t>
            </a:r>
            <a:endParaRPr lang="en-US" altLang="zh-CN" sz="2400" dirty="0">
              <a:latin typeface="华文宋体" pitchFamily="2" charset="-122"/>
              <a:ea typeface="华文宋体" pitchFamily="2" charset="-122"/>
            </a:endParaRPr>
          </a:p>
          <a:p>
            <a:pPr>
              <a:buFont typeface="Wingdings" pitchFamily="2" charset="2"/>
              <a:buChar char="Ø"/>
            </a:pPr>
            <a:r>
              <a:rPr lang="zh-CN" altLang="en-US" sz="2400" dirty="0">
                <a:latin typeface="华文宋体" pitchFamily="2" charset="-122"/>
                <a:ea typeface="华文宋体" pitchFamily="2" charset="-122"/>
              </a:rPr>
              <a:t>组织冲突：结构、业务，包括群体、个体</a:t>
            </a:r>
            <a:endParaRPr lang="en-US" altLang="zh-CN" sz="2400" dirty="0">
              <a:latin typeface="华文宋体" pitchFamily="2" charset="-122"/>
              <a:ea typeface="华文宋体" pitchFamily="2" charset="-122"/>
            </a:endParaRPr>
          </a:p>
          <a:p>
            <a:pPr>
              <a:buFont typeface="Wingdings" pitchFamily="2" charset="2"/>
              <a:buChar char="Ø"/>
            </a:pPr>
            <a:r>
              <a:rPr lang="zh-CN" altLang="en-US" sz="2400" dirty="0">
                <a:latin typeface="华文宋体" pitchFamily="2" charset="-122"/>
                <a:ea typeface="华文宋体" pitchFamily="2" charset="-122"/>
              </a:rPr>
              <a:t>社会冲突：包括以上各层次冲突</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因为冲突形式的复杂多样性，因此，不能笼统的说冲突管理。我们在识别界定冲突性质特征时，一定要清晰界定这个冲突的层次、性质等，有清晰有力的界定，才可能有效处理。</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冲突管理是什么？</a:t>
            </a:r>
            <a:br>
              <a:rPr lang="en-US" altLang="zh-CN" dirty="0"/>
            </a:br>
            <a:r>
              <a:rPr lang="en-US" altLang="zh-CN" dirty="0"/>
              <a:t>——</a:t>
            </a:r>
            <a:r>
              <a:rPr lang="zh-CN" altLang="en-US" dirty="0"/>
              <a:t>什么是冲突？</a:t>
            </a:r>
          </a:p>
        </p:txBody>
      </p:sp>
      <p:sp>
        <p:nvSpPr>
          <p:cNvPr id="3" name="内容占位符 2"/>
          <p:cNvSpPr>
            <a:spLocks noGrp="1"/>
          </p:cNvSpPr>
          <p:nvPr>
            <p:ph idx="1"/>
          </p:nvPr>
        </p:nvSpPr>
        <p:spPr/>
        <p:txBody>
          <a:bodyPr>
            <a:normAutofit/>
          </a:bodyPr>
          <a:lstStyle/>
          <a:p>
            <a:pPr>
              <a:buNone/>
            </a:pPr>
            <a:r>
              <a:rPr lang="zh-CN" altLang="en-US" sz="2400" dirty="0">
                <a:latin typeface="华文宋体" pitchFamily="2" charset="-122"/>
                <a:ea typeface="华文宋体" pitchFamily="2" charset="-122"/>
              </a:rPr>
              <a:t>各个领域的学者根据个人的研究需要来界定冲突，不同的学科对于冲突的定义可能有不同的看法。</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例如，</a:t>
            </a:r>
            <a:r>
              <a:rPr lang="en-US" altLang="zh-CN" sz="2400" dirty="0" err="1">
                <a:latin typeface="华文宋体" pitchFamily="2" charset="-122"/>
                <a:ea typeface="华文宋体" pitchFamily="2" charset="-122"/>
              </a:rPr>
              <a:t>Pondy</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广义的冲突定义：冲突是一个过程，涵盖了过程中所有的冲突现象与事件。</a:t>
            </a:r>
            <a:endParaRPr lang="en-US" altLang="zh-CN" sz="2400" dirty="0">
              <a:latin typeface="华文宋体" pitchFamily="2" charset="-122"/>
              <a:ea typeface="华文宋体" pitchFamily="2" charset="-122"/>
            </a:endParaRPr>
          </a:p>
          <a:p>
            <a:pPr>
              <a:buNone/>
            </a:pPr>
            <a:r>
              <a:rPr lang="en-US" altLang="zh-CN" sz="2400" dirty="0">
                <a:latin typeface="华文宋体" pitchFamily="2" charset="-122"/>
                <a:ea typeface="华文宋体" pitchFamily="2" charset="-122"/>
              </a:rPr>
              <a:t>Wall</a:t>
            </a:r>
            <a:r>
              <a:rPr lang="zh-CN" altLang="en-US" sz="2400" dirty="0">
                <a:latin typeface="华文宋体" pitchFamily="2" charset="-122"/>
                <a:ea typeface="华文宋体" pitchFamily="2" charset="-122"/>
              </a:rPr>
              <a:t>和</a:t>
            </a:r>
            <a:r>
              <a:rPr lang="en-US" altLang="zh-CN" sz="2400" dirty="0" err="1">
                <a:latin typeface="华文宋体" pitchFamily="2" charset="-122"/>
                <a:ea typeface="华文宋体" pitchFamily="2" charset="-122"/>
              </a:rPr>
              <a:t>Calliste</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冲突是一种过程，在这个过程中，一方察觉到其利益受到另一方的反对或负面的影响。</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其他的学者则有不同的界定，</a:t>
            </a:r>
            <a:r>
              <a:rPr lang="en-US" altLang="zh-CN" sz="2400" dirty="0">
                <a:latin typeface="华文宋体" pitchFamily="2" charset="-122"/>
                <a:ea typeface="华文宋体" pitchFamily="2" charset="-122"/>
              </a:rPr>
              <a:t>Thomas</a:t>
            </a:r>
            <a:r>
              <a:rPr lang="zh-CN" altLang="en-US" sz="2400" dirty="0">
                <a:latin typeface="华文宋体" pitchFamily="2" charset="-122"/>
                <a:ea typeface="华文宋体" pitchFamily="2" charset="-122"/>
              </a:rPr>
              <a:t>特别突出强调冲突是别人反对当事人所“关切的事情，或“某些在意的事情”。</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所以，学者们对于冲突各抒己见，没有定论。</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注：因为冲突概念的宏大，导致看待冲突的角度与观点差异，从而定义差异，冲突管理研究差异！</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冲突管理是什么？</a:t>
            </a:r>
          </a:p>
        </p:txBody>
      </p:sp>
      <p:sp>
        <p:nvSpPr>
          <p:cNvPr id="3" name="内容占位符 2"/>
          <p:cNvSpPr>
            <a:spLocks noGrp="1"/>
          </p:cNvSpPr>
          <p:nvPr>
            <p:ph idx="1"/>
          </p:nvPr>
        </p:nvSpPr>
        <p:spPr/>
        <p:txBody>
          <a:bodyPr>
            <a:normAutofit fontScale="92500" lnSpcReduction="10000"/>
          </a:bodyPr>
          <a:lstStyle/>
          <a:p>
            <a:r>
              <a:rPr lang="zh-CN" altLang="en-US" sz="2400" dirty="0">
                <a:latin typeface="华文宋体" pitchFamily="2" charset="-122"/>
                <a:ea typeface="华文宋体" pitchFamily="2" charset="-122"/>
              </a:rPr>
              <a:t>冲突管理</a:t>
            </a:r>
            <a:r>
              <a:rPr lang="en-US" altLang="zh-CN" sz="2400" dirty="0">
                <a:latin typeface="华文宋体" pitchFamily="2" charset="-122"/>
                <a:ea typeface="华文宋体" pitchFamily="2" charset="-122"/>
              </a:rPr>
              <a:t>= </a:t>
            </a:r>
            <a:r>
              <a:rPr lang="zh-CN" altLang="en-US" sz="2400" dirty="0">
                <a:latin typeface="华文宋体" pitchFamily="2" charset="-122"/>
                <a:ea typeface="华文宋体" pitchFamily="2" charset="-122"/>
              </a:rPr>
              <a:t>冲突 </a:t>
            </a:r>
            <a:r>
              <a:rPr lang="en-US" altLang="zh-CN" sz="2400" dirty="0">
                <a:latin typeface="华文宋体" pitchFamily="2" charset="-122"/>
                <a:ea typeface="华文宋体" pitchFamily="2" charset="-122"/>
              </a:rPr>
              <a:t>+ </a:t>
            </a:r>
            <a:r>
              <a:rPr lang="zh-CN" altLang="en-US" sz="2400" dirty="0">
                <a:latin typeface="华文宋体" pitchFamily="2" charset="-122"/>
                <a:ea typeface="华文宋体" pitchFamily="2" charset="-122"/>
              </a:rPr>
              <a:t>管理</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什么是冲突？什么是管理？</a:t>
            </a:r>
            <a:endParaRPr lang="en-US" altLang="zh-CN" sz="2400" dirty="0">
              <a:latin typeface="华文宋体" pitchFamily="2" charset="-122"/>
              <a:ea typeface="华文宋体" pitchFamily="2" charset="-122"/>
            </a:endParaRPr>
          </a:p>
          <a:p>
            <a:pPr>
              <a:buNone/>
            </a:pPr>
            <a:r>
              <a:rPr lang="en-US" altLang="zh-CN" sz="2400" dirty="0">
                <a:latin typeface="华文宋体" pitchFamily="2" charset="-122"/>
                <a:ea typeface="华文宋体" pitchFamily="2" charset="-122"/>
              </a:rPr>
              <a:t>  </a:t>
            </a:r>
            <a:r>
              <a:rPr lang="zh-CN" altLang="en-US" sz="2400" dirty="0">
                <a:latin typeface="华文宋体" pitchFamily="2" charset="-122"/>
                <a:ea typeface="华文宋体" pitchFamily="2" charset="-122"/>
              </a:rPr>
              <a:t>  冲突定义：心理学、管理学、社会学，等等</a:t>
            </a:r>
            <a:endParaRPr lang="en-US" altLang="zh-CN" sz="2400" dirty="0">
              <a:latin typeface="华文宋体" pitchFamily="2" charset="-122"/>
              <a:ea typeface="华文宋体" pitchFamily="2" charset="-122"/>
            </a:endParaRPr>
          </a:p>
          <a:p>
            <a:r>
              <a:rPr lang="zh-CN" altLang="en-US" sz="2400" b="1" dirty="0">
                <a:latin typeface="宋体" pitchFamily="2" charset="-122"/>
                <a:ea typeface="宋体" pitchFamily="2" charset="-122"/>
              </a:rPr>
              <a:t>本课程冲突定义：</a:t>
            </a:r>
            <a:r>
              <a:rPr lang="zh-CN" altLang="en-US" sz="2400" dirty="0">
                <a:latin typeface="宋体" pitchFamily="2" charset="-122"/>
                <a:ea typeface="宋体" pitchFamily="2" charset="-122"/>
              </a:rPr>
              <a:t>在事件中的</a:t>
            </a:r>
            <a:r>
              <a:rPr lang="zh-CN" altLang="en-US" sz="2400" b="1" dirty="0">
                <a:latin typeface="宋体" pitchFamily="2" charset="-122"/>
                <a:ea typeface="宋体" pitchFamily="2" charset="-122"/>
              </a:rPr>
              <a:t>双方或者多方</a:t>
            </a:r>
            <a:r>
              <a:rPr lang="zh-CN" altLang="en-US" sz="2400" dirty="0">
                <a:latin typeface="宋体" pitchFamily="2" charset="-122"/>
                <a:ea typeface="宋体" pitchFamily="2" charset="-122"/>
              </a:rPr>
              <a:t>，由于在感受、价值、利益等方面的感知存在</a:t>
            </a:r>
            <a:r>
              <a:rPr lang="zh-CN" altLang="en-US" sz="2400" b="1" dirty="0">
                <a:latin typeface="宋体" pitchFamily="2" charset="-122"/>
                <a:ea typeface="宋体" pitchFamily="2" charset="-122"/>
              </a:rPr>
              <a:t>不一致</a:t>
            </a:r>
            <a:r>
              <a:rPr lang="zh-CN" altLang="en-US" sz="2400" dirty="0">
                <a:latin typeface="宋体" pitchFamily="2" charset="-122"/>
                <a:ea typeface="宋体" pitchFamily="2" charset="-122"/>
              </a:rPr>
              <a:t>（或者对立）的情况下，而产生的相互不一致以致</a:t>
            </a:r>
            <a:r>
              <a:rPr lang="zh-CN" altLang="en-US" sz="2400" b="1" dirty="0">
                <a:latin typeface="宋体" pitchFamily="2" charset="-122"/>
                <a:ea typeface="宋体" pitchFamily="2" charset="-122"/>
              </a:rPr>
              <a:t>对立</a:t>
            </a:r>
            <a:r>
              <a:rPr lang="zh-CN" altLang="en-US" sz="2400" dirty="0">
                <a:latin typeface="宋体" pitchFamily="2" charset="-122"/>
                <a:ea typeface="宋体" pitchFamily="2" charset="-122"/>
              </a:rPr>
              <a:t>的心理认知或行为状态。</a:t>
            </a:r>
            <a:endParaRPr lang="en-US" altLang="zh-CN" sz="2400" dirty="0">
              <a:latin typeface="宋体" pitchFamily="2" charset="-122"/>
              <a:ea typeface="宋体" pitchFamily="2" charset="-122"/>
            </a:endParaRPr>
          </a:p>
          <a:p>
            <a:pPr marL="0" indent="0">
              <a:buNone/>
            </a:pPr>
            <a:r>
              <a:rPr lang="zh-CN" altLang="en-US" sz="2400" dirty="0"/>
              <a:t>关键词：</a:t>
            </a:r>
            <a:r>
              <a:rPr lang="zh-CN" altLang="en-US" sz="2400" dirty="0">
                <a:latin typeface="宋体" pitchFamily="2" charset="-122"/>
                <a:ea typeface="宋体" pitchFamily="2" charset="-122"/>
              </a:rPr>
              <a:t>多方参与主体；不一致；对立状态（过程）。</a:t>
            </a:r>
            <a:endParaRPr lang="en-US" altLang="zh-CN" sz="2400" dirty="0">
              <a:latin typeface="宋体" pitchFamily="2" charset="-122"/>
              <a:ea typeface="宋体" pitchFamily="2" charset="-122"/>
            </a:endParaRPr>
          </a:p>
          <a:p>
            <a:r>
              <a:rPr lang="zh-CN" altLang="en-US" sz="2400" dirty="0">
                <a:latin typeface="宋体" pitchFamily="2" charset="-122"/>
                <a:ea typeface="宋体" pitchFamily="2" charset="-122"/>
              </a:rPr>
              <a:t>那么，冲突管理内容是什么？</a:t>
            </a:r>
            <a:endParaRPr lang="en-US" altLang="zh-CN" sz="2400" dirty="0">
              <a:latin typeface="宋体" pitchFamily="2" charset="-122"/>
              <a:ea typeface="宋体" pitchFamily="2" charset="-122"/>
            </a:endParaRPr>
          </a:p>
          <a:p>
            <a:pPr marL="0" indent="0">
              <a:buNone/>
            </a:pPr>
            <a:r>
              <a:rPr lang="zh-CN" altLang="en-US" sz="2400" dirty="0">
                <a:latin typeface="宋体" pitchFamily="2" charset="-122"/>
                <a:ea typeface="宋体" pitchFamily="2" charset="-122"/>
              </a:rPr>
              <a:t>  前述冲突的结构多层次性、内容的复杂多样性，使得本课程认为，冲突管理没有一个标准的操作模式。参考书缺乏。</a:t>
            </a:r>
            <a:endParaRPr lang="en-US" altLang="zh-CN" sz="2400" dirty="0">
              <a:latin typeface="宋体" pitchFamily="2" charset="-122"/>
              <a:ea typeface="宋体" pitchFamily="2" charset="-122"/>
            </a:endParaRPr>
          </a:p>
          <a:p>
            <a:pPr marL="0" indent="0">
              <a:buNone/>
            </a:pPr>
            <a:r>
              <a:rPr lang="en-US" altLang="zh-CN" sz="2400" dirty="0">
                <a:latin typeface="宋体" pitchFamily="2" charset="-122"/>
                <a:ea typeface="宋体" pitchFamily="2" charset="-122"/>
              </a:rPr>
              <a:t>  </a:t>
            </a:r>
            <a:r>
              <a:rPr lang="zh-CN" altLang="en-US" sz="2400" dirty="0">
                <a:latin typeface="宋体" pitchFamily="2" charset="-122"/>
                <a:ea typeface="宋体" pitchFamily="2" charset="-122"/>
              </a:rPr>
              <a:t>因此，本课程试图遵循</a:t>
            </a:r>
            <a:r>
              <a:rPr lang="zh-CN" altLang="en-US" sz="2400" b="1" dirty="0">
                <a:latin typeface="宋体" pitchFamily="2" charset="-122"/>
                <a:ea typeface="宋体" pitchFamily="2" charset="-122"/>
              </a:rPr>
              <a:t>管理</a:t>
            </a:r>
            <a:r>
              <a:rPr lang="zh-CN" altLang="en-US" sz="2400" dirty="0">
                <a:latin typeface="宋体" pitchFamily="2" charset="-122"/>
                <a:ea typeface="宋体" pitchFamily="2" charset="-122"/>
              </a:rPr>
              <a:t>的思路，在主体对冲突性质进行</a:t>
            </a:r>
            <a:r>
              <a:rPr lang="zh-CN" altLang="en-US" sz="2400" b="1" dirty="0">
                <a:latin typeface="宋体" pitchFamily="2" charset="-122"/>
                <a:ea typeface="宋体" pitchFamily="2" charset="-122"/>
              </a:rPr>
              <a:t>清晰界定</a:t>
            </a:r>
            <a:r>
              <a:rPr lang="zh-CN" altLang="en-US" sz="2400" dirty="0">
                <a:latin typeface="宋体" pitchFamily="2" charset="-122"/>
                <a:ea typeface="宋体" pitchFamily="2" charset="-122"/>
              </a:rPr>
              <a:t>的基础上，明确冲突管理的</a:t>
            </a:r>
            <a:r>
              <a:rPr lang="zh-CN" altLang="en-US" sz="2400" b="1" dirty="0">
                <a:latin typeface="宋体" pitchFamily="2" charset="-122"/>
                <a:ea typeface="宋体" pitchFamily="2" charset="-122"/>
              </a:rPr>
              <a:t>目标</a:t>
            </a:r>
            <a:r>
              <a:rPr lang="zh-CN" altLang="en-US" sz="2400" dirty="0">
                <a:latin typeface="宋体" pitchFamily="2" charset="-122"/>
                <a:ea typeface="宋体" pitchFamily="2" charset="-122"/>
              </a:rPr>
              <a:t>，进而围绕目标进行的一系列的管理职能性</a:t>
            </a:r>
            <a:r>
              <a:rPr lang="zh-CN" altLang="en-US" sz="2400" b="1" dirty="0">
                <a:latin typeface="宋体" pitchFamily="2" charset="-122"/>
                <a:ea typeface="宋体" pitchFamily="2" charset="-122"/>
              </a:rPr>
              <a:t>活动</a:t>
            </a:r>
            <a:r>
              <a:rPr lang="zh-CN" altLang="en-US" sz="2400" dirty="0">
                <a:latin typeface="宋体" pitchFamily="2" charset="-122"/>
                <a:ea typeface="宋体" pitchFamily="2" charset="-122"/>
              </a:rPr>
              <a:t>。</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冲突管理是什么？</a:t>
            </a:r>
            <a:br>
              <a:rPr lang="en-US" altLang="zh-CN" dirty="0"/>
            </a:br>
            <a:r>
              <a:rPr lang="en-US" altLang="zh-CN" dirty="0"/>
              <a:t>——</a:t>
            </a:r>
            <a:r>
              <a:rPr lang="zh-CN" altLang="en-US" dirty="0"/>
              <a:t>什么是管理？</a:t>
            </a:r>
          </a:p>
        </p:txBody>
      </p:sp>
      <p:sp>
        <p:nvSpPr>
          <p:cNvPr id="3" name="内容占位符 2"/>
          <p:cNvSpPr>
            <a:spLocks noGrp="1"/>
          </p:cNvSpPr>
          <p:nvPr>
            <p:ph idx="1"/>
          </p:nvPr>
        </p:nvSpPr>
        <p:spPr>
          <a:xfrm>
            <a:off x="457200" y="1500174"/>
            <a:ext cx="8229600" cy="4786346"/>
          </a:xfrm>
        </p:spPr>
        <p:txBody>
          <a:bodyPr>
            <a:normAutofit/>
          </a:bodyPr>
          <a:lstStyle/>
          <a:p>
            <a:r>
              <a:rPr lang="zh-CN" altLang="en-US" sz="2400" dirty="0">
                <a:latin typeface="华文宋体" pitchFamily="2" charset="-122"/>
                <a:ea typeface="华文宋体" pitchFamily="2" charset="-122"/>
              </a:rPr>
              <a:t>管理，虽然各个学者（学派）根据自己对于管理行为进行研究的角度，有各种不同的定义，但是，本课程采用一贯的</a:t>
            </a:r>
            <a:r>
              <a:rPr lang="zh-CN" altLang="en-US" sz="2400" b="1" dirty="0">
                <a:latin typeface="华文宋体" pitchFamily="2" charset="-122"/>
                <a:ea typeface="华文宋体" pitchFamily="2" charset="-122"/>
              </a:rPr>
              <a:t>基于实践</a:t>
            </a:r>
            <a:r>
              <a:rPr lang="zh-CN" altLang="en-US" sz="2400" dirty="0">
                <a:latin typeface="华文宋体" pitchFamily="2" charset="-122"/>
                <a:ea typeface="华文宋体" pitchFamily="2" charset="-122"/>
              </a:rPr>
              <a:t>有效性的主动定义。</a:t>
            </a:r>
            <a:endParaRPr lang="en-US" altLang="zh-CN" sz="2400" dirty="0">
              <a:latin typeface="华文宋体" pitchFamily="2" charset="-122"/>
              <a:ea typeface="华文宋体" pitchFamily="2" charset="-122"/>
            </a:endParaRPr>
          </a:p>
          <a:p>
            <a:r>
              <a:rPr lang="zh-CN" altLang="en-US" sz="2400" dirty="0"/>
              <a:t>管理定义（管理学）：目标，职能性动态过程；</a:t>
            </a:r>
            <a:endParaRPr lang="en-US" altLang="zh-CN" sz="2400" dirty="0"/>
          </a:p>
          <a:p>
            <a:r>
              <a:rPr lang="zh-CN" altLang="en-US" sz="2400" b="1" dirty="0">
                <a:latin typeface="华文宋体" pitchFamily="2" charset="-122"/>
                <a:ea typeface="华文宋体" pitchFamily="2" charset="-122"/>
              </a:rPr>
              <a:t>管理：</a:t>
            </a:r>
            <a:r>
              <a:rPr lang="zh-CN" altLang="en-US" sz="2400" dirty="0">
                <a:latin typeface="华文宋体" pitchFamily="2" charset="-122"/>
                <a:ea typeface="华文宋体" pitchFamily="2" charset="-122"/>
              </a:rPr>
              <a:t>是为了实现管理者的目标，根据客观规律与事件动态发展而进行的一系列动态性职能活动。概念核心要素：</a:t>
            </a:r>
            <a:endParaRPr lang="en-US" altLang="zh-CN" sz="2400" dirty="0">
              <a:latin typeface="华文宋体" pitchFamily="2" charset="-122"/>
              <a:ea typeface="华文宋体" pitchFamily="2" charset="-122"/>
            </a:endParaRPr>
          </a:p>
          <a:p>
            <a:pPr>
              <a:buNone/>
            </a:pPr>
            <a:r>
              <a:rPr lang="en-US" altLang="zh-CN" sz="2400" dirty="0">
                <a:latin typeface="华文宋体" pitchFamily="2" charset="-122"/>
                <a:ea typeface="华文宋体" pitchFamily="2" charset="-122"/>
              </a:rPr>
              <a:t>  </a:t>
            </a:r>
            <a:r>
              <a:rPr lang="zh-CN" altLang="en-US" sz="2400" dirty="0">
                <a:latin typeface="华文宋体" pitchFamily="2" charset="-122"/>
                <a:ea typeface="华文宋体" pitchFamily="2" charset="-122"/>
              </a:rPr>
              <a:t>目标：取决于事件认识、性质界定；</a:t>
            </a:r>
            <a:endParaRPr lang="en-US" altLang="zh-CN" sz="2400" dirty="0">
              <a:latin typeface="华文宋体" pitchFamily="2" charset="-122"/>
              <a:ea typeface="华文宋体" pitchFamily="2" charset="-122"/>
            </a:endParaRPr>
          </a:p>
          <a:p>
            <a:pPr>
              <a:buNone/>
            </a:pPr>
            <a:r>
              <a:rPr lang="en-US" altLang="zh-CN" sz="2400" dirty="0">
                <a:latin typeface="华文宋体" pitchFamily="2" charset="-122"/>
                <a:ea typeface="华文宋体" pitchFamily="2" charset="-122"/>
              </a:rPr>
              <a:t> </a:t>
            </a:r>
            <a:r>
              <a:rPr lang="zh-CN" altLang="en-US" sz="2400" dirty="0">
                <a:latin typeface="华文宋体" pitchFamily="2" charset="-122"/>
                <a:ea typeface="华文宋体" pitchFamily="2" charset="-122"/>
              </a:rPr>
              <a:t>职能活动：计划、组织、协调、领导、控制；</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动态：事件的性质认知、动态发展、知识的实践提升、职能活动的动态修正、改善与演进。</a:t>
            </a:r>
          </a:p>
        </p:txBody>
      </p:sp>
      <p:sp>
        <p:nvSpPr>
          <p:cNvPr id="4" name="左大括号 3"/>
          <p:cNvSpPr/>
          <p:nvPr/>
        </p:nvSpPr>
        <p:spPr>
          <a:xfrm>
            <a:off x="214282" y="4429132"/>
            <a:ext cx="285752" cy="1285884"/>
          </a:xfrm>
          <a:prstGeom prst="leftBrace">
            <a:avLst/>
          </a:prstGeom>
          <a:solidFill>
            <a:schemeClr val="accent1"/>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冲突管理是什么？</a:t>
            </a:r>
            <a:r>
              <a:rPr lang="en-US" altLang="zh-CN" sz="3200" dirty="0"/>
              <a:t>——</a:t>
            </a:r>
            <a:r>
              <a:rPr lang="zh-CN" altLang="en-US" sz="3200" dirty="0"/>
              <a:t>内容框架</a:t>
            </a:r>
          </a:p>
        </p:txBody>
      </p:sp>
      <p:sp>
        <p:nvSpPr>
          <p:cNvPr id="3" name="内容占位符 2"/>
          <p:cNvSpPr>
            <a:spLocks noGrp="1"/>
          </p:cNvSpPr>
          <p:nvPr>
            <p:ph idx="1"/>
          </p:nvPr>
        </p:nvSpPr>
        <p:spPr>
          <a:xfrm>
            <a:off x="457200" y="1357298"/>
            <a:ext cx="8229600" cy="4929222"/>
          </a:xfrm>
        </p:spPr>
        <p:txBody>
          <a:bodyPr>
            <a:normAutofit/>
          </a:bodyPr>
          <a:lstStyle/>
          <a:p>
            <a:pPr>
              <a:buNone/>
            </a:pPr>
            <a:r>
              <a:rPr lang="zh-CN" altLang="en-US" sz="2400" dirty="0"/>
              <a:t>回顾其他课程内容：</a:t>
            </a:r>
            <a:endParaRPr lang="en-US" altLang="zh-CN" sz="2400" dirty="0"/>
          </a:p>
          <a:p>
            <a:r>
              <a:rPr lang="zh-CN" altLang="en-US" sz="2400" dirty="0">
                <a:latin typeface="华文宋体" pitchFamily="2" charset="-122"/>
                <a:ea typeface="华文宋体" pitchFamily="2" charset="-122"/>
              </a:rPr>
              <a:t>管理学：概念、管理理论、四类管理职能；</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人力资源管理：概念、人的管理理论，企业中人的管理过程；</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市场营销学：概念、营销理论，目标市场、</a:t>
            </a:r>
            <a:r>
              <a:rPr lang="en-US" altLang="zh-CN" sz="2400" dirty="0">
                <a:latin typeface="华文宋体" pitchFamily="2" charset="-122"/>
                <a:ea typeface="华文宋体" pitchFamily="2" charset="-122"/>
              </a:rPr>
              <a:t>4p</a:t>
            </a:r>
            <a:r>
              <a:rPr lang="zh-CN" altLang="en-US" sz="2400" dirty="0">
                <a:latin typeface="华文宋体" pitchFamily="2" charset="-122"/>
                <a:ea typeface="华文宋体" pitchFamily="2" charset="-122"/>
              </a:rPr>
              <a:t>营销策略；</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团队管理：团队概念，团队过程各环节管理；</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企业文化导论：企业文化概念，企业文化结构与建设过程；</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那么，冲突管理呢？</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582594"/>
          </a:xfrm>
        </p:spPr>
        <p:txBody>
          <a:bodyPr>
            <a:normAutofit/>
          </a:bodyPr>
          <a:lstStyle/>
          <a:p>
            <a:r>
              <a:rPr lang="zh-CN" altLang="en-US" sz="2400" dirty="0"/>
              <a:t>冲突管理概念启示：一个企业内冲突的解决</a:t>
            </a:r>
          </a:p>
        </p:txBody>
      </p:sp>
      <p:sp>
        <p:nvSpPr>
          <p:cNvPr id="3" name="内容占位符 2"/>
          <p:cNvSpPr>
            <a:spLocks noGrp="1"/>
          </p:cNvSpPr>
          <p:nvPr>
            <p:ph idx="1"/>
          </p:nvPr>
        </p:nvSpPr>
        <p:spPr>
          <a:xfrm>
            <a:off x="214282" y="785794"/>
            <a:ext cx="8472518" cy="5857916"/>
          </a:xfrm>
        </p:spPr>
        <p:txBody>
          <a:bodyPr>
            <a:normAutofit fontScale="85000" lnSpcReduction="10000"/>
          </a:bodyPr>
          <a:lstStyle/>
          <a:p>
            <a:pPr marL="0" indent="216000">
              <a:lnSpc>
                <a:spcPct val="120000"/>
              </a:lnSpc>
              <a:spcBef>
                <a:spcPts val="0"/>
              </a:spcBef>
              <a:buNone/>
            </a:pPr>
            <a:r>
              <a:rPr lang="zh-CN" altLang="en-US" sz="2400" dirty="0">
                <a:latin typeface="华文宋体" pitchFamily="2" charset="-122"/>
                <a:ea typeface="华文宋体" pitchFamily="2" charset="-122"/>
              </a:rPr>
              <a:t>亚通网络公司是一家专门从事通信产品生产和电脑网络服务的中日合资企业。公司自</a:t>
            </a:r>
            <a:r>
              <a:rPr lang="en-US" altLang="zh-CN" sz="2400" dirty="0">
                <a:latin typeface="华文宋体" pitchFamily="2" charset="-122"/>
                <a:ea typeface="华文宋体" pitchFamily="2" charset="-122"/>
              </a:rPr>
              <a:t>1991</a:t>
            </a:r>
            <a:r>
              <a:rPr lang="zh-CN" altLang="en-US" sz="2400" dirty="0">
                <a:latin typeface="华文宋体" pitchFamily="2" charset="-122"/>
                <a:ea typeface="华文宋体" pitchFamily="2" charset="-122"/>
              </a:rPr>
              <a:t>年</a:t>
            </a:r>
            <a:r>
              <a:rPr lang="en-US" altLang="zh-CN" sz="2400" dirty="0">
                <a:latin typeface="华文宋体" pitchFamily="2" charset="-122"/>
                <a:ea typeface="华文宋体" pitchFamily="2" charset="-122"/>
              </a:rPr>
              <a:t>7</a:t>
            </a:r>
            <a:r>
              <a:rPr lang="zh-CN" altLang="en-US" sz="2400" dirty="0">
                <a:latin typeface="华文宋体" pitchFamily="2" charset="-122"/>
                <a:ea typeface="华文宋体" pitchFamily="2" charset="-122"/>
              </a:rPr>
              <a:t>月成立以来发展迅速，销售额每年增长</a:t>
            </a:r>
            <a:r>
              <a:rPr lang="en-US" altLang="zh-CN" sz="2400" dirty="0">
                <a:latin typeface="华文宋体" pitchFamily="2" charset="-122"/>
                <a:ea typeface="华文宋体" pitchFamily="2" charset="-122"/>
              </a:rPr>
              <a:t>50%</a:t>
            </a:r>
            <a:r>
              <a:rPr lang="zh-CN" altLang="en-US" sz="2400" dirty="0">
                <a:latin typeface="华文宋体" pitchFamily="2" charset="-122"/>
                <a:ea typeface="华文宋体" pitchFamily="2" charset="-122"/>
              </a:rPr>
              <a:t>以上。与此同时，公司内部存在着不少冲突，影响着公司绩效的继续提高。</a:t>
            </a:r>
          </a:p>
          <a:p>
            <a:pPr marL="0" indent="216000">
              <a:lnSpc>
                <a:spcPct val="120000"/>
              </a:lnSpc>
              <a:spcBef>
                <a:spcPts val="0"/>
              </a:spcBef>
              <a:buNone/>
            </a:pP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因为是合资企业，尽管日方管理人员带来了许多先进的管理方法。但是日本式的管理模式未必完全适合中国员工。例如，在日本，加班加点不仅司空见惯，而且没有报酬。亚通公司经常让中国员工长时间加班，引起了大家的不满，一些优秀员工还因此离开了亚通公司。 </a:t>
            </a:r>
          </a:p>
          <a:p>
            <a:pPr marL="0" indent="216000">
              <a:lnSpc>
                <a:spcPct val="120000"/>
              </a:lnSpc>
              <a:spcBef>
                <a:spcPts val="0"/>
              </a:spcBef>
              <a:buNone/>
            </a:pP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亚通公司的组织结构由于是直线职能制，部门之间的协调非常困难。例如，销售部经常抱怨研发部开发的产品偏离顾客的需求，生产部的效率太低，使自己错过了销售时机；生产部则抱怨研发部开发的产品不符合生产标准，销售部门的订单无法达到成本要求。 </a:t>
            </a:r>
          </a:p>
          <a:p>
            <a:pPr marL="0" indent="216000">
              <a:lnSpc>
                <a:spcPct val="120000"/>
              </a:lnSpc>
              <a:spcBef>
                <a:spcPts val="0"/>
              </a:spcBef>
              <a:buNone/>
            </a:pP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研发部胡经理虽然技术水平首屈一指，但是心胸狭窄，总怕他人超越自己。因此，常常压制其他工程师。这使得工程部人心涣散，士气低落。</a:t>
            </a:r>
          </a:p>
          <a:p>
            <a:pPr marL="0" indent="216000">
              <a:lnSpc>
                <a:spcPct val="120000"/>
              </a:lnSpc>
              <a:spcBef>
                <a:spcPts val="0"/>
              </a:spcBef>
              <a:buNone/>
            </a:pPr>
            <a:r>
              <a:rPr lang="en-US" altLang="zh-CN" sz="2400" dirty="0">
                <a:latin typeface="华文宋体" pitchFamily="2" charset="-122"/>
                <a:ea typeface="华文宋体" pitchFamily="2" charset="-122"/>
              </a:rPr>
              <a:t>1.</a:t>
            </a:r>
            <a:r>
              <a:rPr lang="zh-CN" altLang="en-US" sz="2400" dirty="0">
                <a:latin typeface="华文宋体" pitchFamily="2" charset="-122"/>
                <a:ea typeface="华文宋体" pitchFamily="2" charset="-122"/>
              </a:rPr>
              <a:t>亚通公司的冲突有哪些？原因是什么？ </a:t>
            </a:r>
          </a:p>
          <a:p>
            <a:pPr marL="0" indent="216000">
              <a:lnSpc>
                <a:spcPct val="120000"/>
              </a:lnSpc>
              <a:spcBef>
                <a:spcPts val="0"/>
              </a:spcBef>
              <a:buNone/>
            </a:pPr>
            <a:r>
              <a:rPr lang="en-US" altLang="zh-CN" sz="2400" dirty="0">
                <a:latin typeface="华文宋体" pitchFamily="2" charset="-122"/>
                <a:ea typeface="华文宋体" pitchFamily="2" charset="-122"/>
              </a:rPr>
              <a:t>2.</a:t>
            </a:r>
            <a:r>
              <a:rPr lang="zh-CN" altLang="en-US" sz="2400" dirty="0">
                <a:latin typeface="华文宋体" pitchFamily="2" charset="-122"/>
                <a:ea typeface="华文宋体" pitchFamily="2" charset="-122"/>
              </a:rPr>
              <a:t>如何解决亚通公司存在的冲突？</a:t>
            </a:r>
          </a:p>
          <a:p>
            <a:pPr>
              <a:buNone/>
            </a:pPr>
            <a:endParaRPr lang="zh-CN" altLang="en-US" sz="2400" dirty="0">
              <a:latin typeface="华文宋体" pitchFamily="2" charset="-122"/>
              <a:ea typeface="华文宋体"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96908"/>
          </a:xfrm>
        </p:spPr>
        <p:txBody>
          <a:bodyPr/>
          <a:lstStyle/>
          <a:p>
            <a:r>
              <a:rPr lang="zh-CN" altLang="en-US" dirty="0"/>
              <a:t>案例分析思路</a:t>
            </a:r>
          </a:p>
        </p:txBody>
      </p:sp>
      <p:sp>
        <p:nvSpPr>
          <p:cNvPr id="3" name="内容占位符 2"/>
          <p:cNvSpPr>
            <a:spLocks noGrp="1"/>
          </p:cNvSpPr>
          <p:nvPr>
            <p:ph idx="1"/>
          </p:nvPr>
        </p:nvSpPr>
        <p:spPr>
          <a:xfrm>
            <a:off x="457200" y="1357298"/>
            <a:ext cx="8329642" cy="5072098"/>
          </a:xfrm>
        </p:spPr>
        <p:txBody>
          <a:bodyPr>
            <a:normAutofit/>
          </a:bodyPr>
          <a:lstStyle/>
          <a:p>
            <a:pPr>
              <a:buNone/>
            </a:pPr>
            <a:r>
              <a:rPr lang="zh-CN" altLang="en-US" sz="2400" dirty="0">
                <a:latin typeface="宋体" pitchFamily="2" charset="-122"/>
                <a:ea typeface="宋体" pitchFamily="2" charset="-122"/>
              </a:rPr>
              <a:t>对于该案例分析的主要方法思路：</a:t>
            </a:r>
            <a:endParaRPr lang="en-US" altLang="zh-CN" sz="2400" dirty="0">
              <a:latin typeface="宋体" pitchFamily="2" charset="-122"/>
              <a:ea typeface="宋体" pitchFamily="2" charset="-122"/>
            </a:endParaRPr>
          </a:p>
          <a:p>
            <a:pPr>
              <a:buFont typeface="Wingdings" pitchFamily="2" charset="2"/>
              <a:buChar char="Ø"/>
            </a:pPr>
            <a:r>
              <a:rPr lang="zh-CN" altLang="en-US" sz="2400" dirty="0">
                <a:latin typeface="宋体" pitchFamily="2" charset="-122"/>
                <a:ea typeface="宋体" pitchFamily="2" charset="-122"/>
              </a:rPr>
              <a:t>判断冲突的界定与性质：层次、结构</a:t>
            </a:r>
            <a:endParaRPr lang="en-US" altLang="zh-CN" sz="2400" dirty="0">
              <a:latin typeface="宋体" pitchFamily="2" charset="-122"/>
              <a:ea typeface="宋体" pitchFamily="2" charset="-122"/>
            </a:endParaRPr>
          </a:p>
          <a:p>
            <a:pPr>
              <a:buFont typeface="Wingdings" pitchFamily="2" charset="2"/>
              <a:buChar char="Ø"/>
            </a:pPr>
            <a:r>
              <a:rPr lang="zh-CN" altLang="en-US" sz="2400" dirty="0">
                <a:latin typeface="宋体" pitchFamily="2" charset="-122"/>
                <a:ea typeface="宋体" pitchFamily="2" charset="-122"/>
              </a:rPr>
              <a:t>分析冲突原因：原因、相互关系</a:t>
            </a:r>
            <a:endParaRPr lang="en-US" altLang="zh-CN" sz="2400" dirty="0">
              <a:latin typeface="宋体" pitchFamily="2" charset="-122"/>
              <a:ea typeface="宋体" pitchFamily="2" charset="-122"/>
            </a:endParaRPr>
          </a:p>
          <a:p>
            <a:pPr>
              <a:buFont typeface="Wingdings" pitchFamily="2" charset="2"/>
              <a:buChar char="Ø"/>
            </a:pPr>
            <a:r>
              <a:rPr lang="zh-CN" altLang="en-US" sz="2400" dirty="0">
                <a:latin typeface="宋体" pitchFamily="2" charset="-122"/>
                <a:ea typeface="宋体" pitchFamily="2" charset="-122"/>
              </a:rPr>
              <a:t>明确冲突管理目标：个体、群体、组织目标及其相互关系</a:t>
            </a:r>
            <a:endParaRPr lang="en-US" altLang="zh-CN" sz="2400" dirty="0">
              <a:latin typeface="宋体" pitchFamily="2" charset="-122"/>
              <a:ea typeface="宋体" pitchFamily="2" charset="-122"/>
            </a:endParaRPr>
          </a:p>
          <a:p>
            <a:pPr>
              <a:buFont typeface="Wingdings" pitchFamily="2" charset="2"/>
              <a:buChar char="Ø"/>
            </a:pPr>
            <a:r>
              <a:rPr lang="zh-CN" altLang="en-US" sz="2400" dirty="0">
                <a:latin typeface="宋体" pitchFamily="2" charset="-122"/>
                <a:ea typeface="宋体" pitchFamily="2" charset="-122"/>
              </a:rPr>
              <a:t>选择并采取冲突管理策略方案：管理决策</a:t>
            </a:r>
            <a:r>
              <a:rPr lang="en-US" altLang="zh-CN" sz="2400">
                <a:latin typeface="宋体" pitchFamily="2" charset="-122"/>
                <a:ea typeface="宋体" pitchFamily="2" charset="-122"/>
              </a:rPr>
              <a:t> </a:t>
            </a:r>
            <a:endParaRPr lang="en-US" altLang="zh-CN" sz="2400" dirty="0">
              <a:latin typeface="宋体" pitchFamily="2" charset="-122"/>
              <a:ea typeface="宋体" pitchFamily="2" charset="-122"/>
            </a:endParaRPr>
          </a:p>
          <a:p>
            <a:pPr>
              <a:buFont typeface="Wingdings" pitchFamily="2" charset="2"/>
              <a:buChar char="Ø"/>
            </a:pPr>
            <a:r>
              <a:rPr lang="zh-CN" altLang="en-US" sz="2400" dirty="0">
                <a:latin typeface="宋体" pitchFamily="2" charset="-122"/>
                <a:ea typeface="宋体" pitchFamily="2" charset="-122"/>
              </a:rPr>
              <a:t>跟踪并动态调整冲突管理策略：管理的动态性</a:t>
            </a:r>
            <a:endParaRPr lang="en-US" altLang="zh-CN" sz="2400" dirty="0">
              <a:latin typeface="宋体" pitchFamily="2" charset="-122"/>
              <a:ea typeface="宋体" pitchFamily="2" charset="-122"/>
            </a:endParaRPr>
          </a:p>
          <a:p>
            <a:r>
              <a:rPr lang="zh-CN" altLang="en-US" sz="2400" dirty="0">
                <a:latin typeface="宋体" pitchFamily="2" charset="-122"/>
                <a:ea typeface="宋体" pitchFamily="2" charset="-122"/>
              </a:rPr>
              <a:t>整个分析过程，我们会发现，并没有标准的事件冲突管理的答案，更重要的应该是我们学习并训练对冲突类型分析、性质界定、原因分析；冲突事件管理目标的确定、管理方案衡量与选择、方案实施、反馈与调整。</a:t>
            </a:r>
            <a:endParaRPr lang="en-US" altLang="zh-CN" sz="2400" dirty="0">
              <a:latin typeface="宋体" pitchFamily="2" charset="-122"/>
              <a:ea typeface="宋体" pitchFamily="2" charset="-122"/>
            </a:endParaRPr>
          </a:p>
          <a:p>
            <a:r>
              <a:rPr lang="en-US" altLang="zh-CN" sz="2400" dirty="0">
                <a:latin typeface="宋体" pitchFamily="2" charset="-122"/>
                <a:ea typeface="宋体" pitchFamily="2" charset="-122"/>
              </a:rPr>
              <a:t>——</a:t>
            </a:r>
            <a:r>
              <a:rPr lang="zh-CN" altLang="en-US" sz="2400" b="1" dirty="0">
                <a:latin typeface="宋体" pitchFamily="2" charset="-122"/>
                <a:ea typeface="宋体" pitchFamily="2" charset="-122"/>
              </a:rPr>
              <a:t>管理的逻辑：界定、事件分析（原因、关系）、目标、执行方案（职能性工作）、实施，动态管理。</a:t>
            </a:r>
            <a:endParaRPr lang="en-US" altLang="zh-CN" sz="2400" b="1" dirty="0">
              <a:latin typeface="宋体" pitchFamily="2" charset="-122"/>
              <a:ea typeface="宋体"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案例分析：</a:t>
            </a:r>
          </a:p>
        </p:txBody>
      </p:sp>
      <p:sp>
        <p:nvSpPr>
          <p:cNvPr id="3" name="内容占位符 2"/>
          <p:cNvSpPr>
            <a:spLocks noGrp="1"/>
          </p:cNvSpPr>
          <p:nvPr>
            <p:ph idx="1"/>
          </p:nvPr>
        </p:nvSpPr>
        <p:spPr>
          <a:xfrm>
            <a:off x="428596" y="1428736"/>
            <a:ext cx="8229600" cy="4686320"/>
          </a:xfrm>
        </p:spPr>
        <p:txBody>
          <a:bodyPr>
            <a:normAutofit/>
          </a:bodyPr>
          <a:lstStyle/>
          <a:p>
            <a:r>
              <a:rPr lang="zh-CN" altLang="en-US" sz="2400" dirty="0">
                <a:latin typeface="宋体" pitchFamily="2" charset="-122"/>
                <a:ea typeface="宋体" pitchFamily="2" charset="-122"/>
              </a:rPr>
              <a:t>从上述案例分析思路中，我们看到，对于该事件的处理应该是二个主要方面内容：</a:t>
            </a:r>
            <a:endParaRPr lang="en-US" altLang="zh-CN" sz="2400" dirty="0">
              <a:latin typeface="宋体" pitchFamily="2" charset="-122"/>
              <a:ea typeface="宋体" pitchFamily="2" charset="-122"/>
            </a:endParaRPr>
          </a:p>
          <a:p>
            <a:pPr>
              <a:buNone/>
            </a:pPr>
            <a:r>
              <a:rPr lang="en-US" altLang="zh-CN" sz="2400" dirty="0">
                <a:latin typeface="宋体" pitchFamily="2" charset="-122"/>
                <a:ea typeface="宋体" pitchFamily="2" charset="-122"/>
              </a:rPr>
              <a:t>    </a:t>
            </a:r>
            <a:r>
              <a:rPr lang="zh-CN" altLang="en-US" sz="2400" dirty="0">
                <a:latin typeface="宋体" pitchFamily="2" charset="-122"/>
                <a:ea typeface="宋体" pitchFamily="2" charset="-122"/>
              </a:rPr>
              <a:t>冲突界定与分析、管理的权衡与实施（目标与策略）</a:t>
            </a:r>
            <a:endParaRPr lang="en-US" altLang="zh-CN" sz="2400" dirty="0">
              <a:latin typeface="宋体" pitchFamily="2" charset="-122"/>
              <a:ea typeface="宋体" pitchFamily="2" charset="-122"/>
            </a:endParaRPr>
          </a:p>
          <a:p>
            <a:pPr>
              <a:buNone/>
            </a:pP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这就是</a:t>
            </a:r>
            <a:r>
              <a:rPr lang="zh-CN" altLang="en-US" sz="2400" b="1" dirty="0">
                <a:latin typeface="宋体" pitchFamily="2" charset="-122"/>
                <a:ea typeface="宋体" pitchFamily="2" charset="-122"/>
              </a:rPr>
              <a:t>冲突管理，本课程以此为内容框架设计依据。</a:t>
            </a:r>
            <a:endParaRPr lang="en-US" altLang="zh-CN" sz="2400" b="1" dirty="0">
              <a:latin typeface="宋体" pitchFamily="2" charset="-122"/>
              <a:ea typeface="宋体" pitchFamily="2" charset="-122"/>
            </a:endParaRPr>
          </a:p>
          <a:p>
            <a:pPr>
              <a:buNone/>
            </a:pPr>
            <a:r>
              <a:rPr lang="zh-CN" altLang="en-US" sz="2400" dirty="0">
                <a:latin typeface="宋体" pitchFamily="2" charset="-122"/>
                <a:ea typeface="宋体" pitchFamily="2" charset="-122"/>
              </a:rPr>
              <a:t>回顾你遇到的典型冲突及其处理方法。</a:t>
            </a:r>
            <a:endParaRPr lang="en-US" altLang="zh-CN" sz="2400" dirty="0">
              <a:latin typeface="宋体" pitchFamily="2" charset="-122"/>
              <a:ea typeface="宋体" pitchFamily="2" charset="-122"/>
            </a:endParaRPr>
          </a:p>
          <a:p>
            <a:r>
              <a:rPr lang="zh-CN" altLang="en-US" sz="2400" dirty="0">
                <a:latin typeface="宋体" pitchFamily="2" charset="-122"/>
                <a:ea typeface="宋体" pitchFamily="2" charset="-122"/>
              </a:rPr>
              <a:t>讨论：你目前遇到过影响比较大的生活、人际、学习、群体中的冲突有什么？你是如何处理的？</a:t>
            </a:r>
            <a:endParaRPr lang="en-US" altLang="zh-CN" sz="2400" dirty="0">
              <a:latin typeface="宋体" pitchFamily="2" charset="-122"/>
              <a:ea typeface="宋体" pitchFamily="2" charset="-122"/>
            </a:endParaRPr>
          </a:p>
          <a:p>
            <a:r>
              <a:rPr lang="zh-CN" altLang="en-US" sz="2400" dirty="0">
                <a:latin typeface="宋体" pitchFamily="2" charset="-122"/>
                <a:ea typeface="宋体" pitchFamily="2" charset="-122"/>
              </a:rPr>
              <a:t>举例与讨论：当前你关注的社会热点冲突时什么，你怎么认为该冲突的处理效果及其影响？</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冲突管理课程内容</a:t>
            </a:r>
          </a:p>
        </p:txBody>
      </p:sp>
      <p:sp>
        <p:nvSpPr>
          <p:cNvPr id="3" name="内容占位符 2"/>
          <p:cNvSpPr>
            <a:spLocks noGrp="1"/>
          </p:cNvSpPr>
          <p:nvPr>
            <p:ph idx="1"/>
          </p:nvPr>
        </p:nvSpPr>
        <p:spPr>
          <a:xfrm>
            <a:off x="457200" y="1417638"/>
            <a:ext cx="8229600" cy="4868882"/>
          </a:xfrm>
        </p:spPr>
        <p:txBody>
          <a:bodyPr>
            <a:noAutofit/>
          </a:bodyPr>
          <a:lstStyle/>
          <a:p>
            <a:r>
              <a:rPr lang="zh-CN" altLang="en-US" sz="2400" b="1" dirty="0">
                <a:latin typeface="华文宋体" pitchFamily="2" charset="-122"/>
                <a:ea typeface="华文宋体" pitchFamily="2" charset="-122"/>
              </a:rPr>
              <a:t>所以，本课程要学习的内容主要有：</a:t>
            </a:r>
            <a:endParaRPr lang="en-US" altLang="zh-CN" sz="2400" b="1" dirty="0">
              <a:latin typeface="华文宋体" pitchFamily="2" charset="-122"/>
              <a:ea typeface="华文宋体" pitchFamily="2" charset="-122"/>
            </a:endParaRPr>
          </a:p>
          <a:p>
            <a:pPr>
              <a:buFont typeface="Wingdings" pitchFamily="2" charset="2"/>
              <a:buChar char="Ø"/>
            </a:pPr>
            <a:r>
              <a:rPr lang="zh-CN" altLang="en-US" sz="2400" b="1" dirty="0">
                <a:latin typeface="华文宋体" pitchFamily="2" charset="-122"/>
                <a:ea typeface="华文宋体" pitchFamily="2" charset="-122"/>
              </a:rPr>
              <a:t>概念识别</a:t>
            </a:r>
            <a:r>
              <a:rPr lang="zh-CN" altLang="en-US" sz="2400" dirty="0"/>
              <a:t>：</a:t>
            </a:r>
            <a:r>
              <a:rPr lang="zh-CN" altLang="en-US" sz="2400" dirty="0">
                <a:latin typeface="华文宋体" pitchFamily="2" charset="-122"/>
                <a:ea typeface="华文宋体" pitchFamily="2" charset="-122"/>
              </a:rPr>
              <a:t>冲突（概念、特征、过程）、冲突管理（概念、特征、过程），</a:t>
            </a:r>
            <a:endParaRPr lang="en-US" altLang="zh-CN" sz="2400" dirty="0">
              <a:latin typeface="华文宋体" pitchFamily="2" charset="-122"/>
              <a:ea typeface="华文宋体" pitchFamily="2" charset="-122"/>
            </a:endParaRPr>
          </a:p>
          <a:p>
            <a:pPr>
              <a:buFont typeface="Wingdings" pitchFamily="2" charset="2"/>
              <a:buChar char="Ø"/>
            </a:pPr>
            <a:r>
              <a:rPr lang="zh-CN" altLang="en-US" sz="2400" b="1" dirty="0">
                <a:latin typeface="华文宋体" pitchFamily="2" charset="-122"/>
                <a:ea typeface="华文宋体" pitchFamily="2" charset="-122"/>
              </a:rPr>
              <a:t>冲突的本源泉（冲突的个体层面）：个体及其自我冲突；</a:t>
            </a:r>
            <a:endParaRPr lang="en-US" altLang="zh-CN" sz="2400" b="1" dirty="0">
              <a:latin typeface="华文宋体" pitchFamily="2" charset="-122"/>
              <a:ea typeface="华文宋体" pitchFamily="2" charset="-122"/>
            </a:endParaRPr>
          </a:p>
          <a:p>
            <a:pPr>
              <a:buFont typeface="Wingdings" pitchFamily="2" charset="2"/>
              <a:buChar char="Ø"/>
            </a:pPr>
            <a:r>
              <a:rPr lang="zh-CN" altLang="en-US" sz="2400" b="1" dirty="0">
                <a:latin typeface="华文宋体" pitchFamily="2" charset="-122"/>
                <a:ea typeface="华文宋体" pitchFamily="2" charset="-122"/>
              </a:rPr>
              <a:t>冲突管理过程分析：</a:t>
            </a:r>
            <a:r>
              <a:rPr lang="zh-CN" altLang="en-US" sz="2400" dirty="0">
                <a:latin typeface="华文宋体" pitchFamily="2" charset="-122"/>
                <a:ea typeface="华文宋体" pitchFamily="2" charset="-122"/>
              </a:rPr>
              <a:t>冲突识别、冲突诊断、冲突处理（重点）、结果评价、结果反馈</a:t>
            </a:r>
            <a:endParaRPr lang="en-US" altLang="zh-CN" sz="2400" dirty="0">
              <a:latin typeface="华文宋体" pitchFamily="2" charset="-122"/>
              <a:ea typeface="华文宋体" pitchFamily="2" charset="-122"/>
            </a:endParaRPr>
          </a:p>
          <a:p>
            <a:pPr>
              <a:buFont typeface="Wingdings" pitchFamily="2" charset="2"/>
              <a:buChar char="Ø"/>
            </a:pPr>
            <a:r>
              <a:rPr lang="zh-CN" altLang="en-US" sz="2400" b="1" dirty="0">
                <a:latin typeface="华文宋体" pitchFamily="2" charset="-122"/>
                <a:ea typeface="华文宋体" pitchFamily="2" charset="-122"/>
              </a:rPr>
              <a:t>冲突典型理论分析：</a:t>
            </a:r>
            <a:r>
              <a:rPr lang="en-US" altLang="zh-CN" sz="2400" dirty="0">
                <a:latin typeface="华文宋体" pitchFamily="2" charset="-122"/>
                <a:ea typeface="华文宋体" pitchFamily="2" charset="-122"/>
              </a:rPr>
              <a:t>Tomas </a:t>
            </a:r>
            <a:r>
              <a:rPr lang="zh-CN" altLang="en-US" sz="2400" dirty="0">
                <a:latin typeface="华文宋体" pitchFamily="2" charset="-122"/>
                <a:ea typeface="华文宋体" pitchFamily="2" charset="-122"/>
              </a:rPr>
              <a:t>五种冲突管理策略模型、博弈论，等等。</a:t>
            </a:r>
            <a:endParaRPr lang="en-US" altLang="zh-CN" sz="2400" dirty="0">
              <a:latin typeface="华文宋体" pitchFamily="2" charset="-122"/>
              <a:ea typeface="华文宋体" pitchFamily="2" charset="-122"/>
            </a:endParaRPr>
          </a:p>
          <a:p>
            <a:pPr>
              <a:buFont typeface="Wingdings" pitchFamily="2" charset="2"/>
              <a:buChar char="Ø"/>
            </a:pPr>
            <a:r>
              <a:rPr lang="zh-CN" altLang="en-US" sz="2400" b="1" dirty="0">
                <a:latin typeface="华文宋体" pitchFamily="2" charset="-122"/>
                <a:ea typeface="华文宋体" pitchFamily="2" charset="-122"/>
              </a:rPr>
              <a:t>冲突管理专题（情绪与冲突管理，认知与冲突管理，组织、群体内冲突与管理）</a:t>
            </a:r>
            <a:endParaRPr lang="en-US" altLang="zh-CN" sz="2400" b="1" dirty="0">
              <a:latin typeface="华文宋体" pitchFamily="2" charset="-122"/>
              <a:ea typeface="华文宋体" pitchFamily="2" charset="-122"/>
            </a:endParaRPr>
          </a:p>
          <a:p>
            <a:pPr>
              <a:buFont typeface="Wingdings" pitchFamily="2" charset="2"/>
              <a:buChar char="Ø"/>
            </a:pPr>
            <a:r>
              <a:rPr lang="zh-CN" altLang="en-US" sz="2400" b="1" dirty="0">
                <a:latin typeface="华文宋体" pitchFamily="2" charset="-122"/>
                <a:ea typeface="华文宋体" pitchFamily="2" charset="-122"/>
              </a:rPr>
              <a:t>实践训练，更重要的学习</a:t>
            </a:r>
            <a:r>
              <a:rPr lang="zh-CN" altLang="en-US" sz="2400" dirty="0">
                <a:latin typeface="华文宋体" pitchFamily="2" charset="-122"/>
                <a:ea typeface="华文宋体" pitchFamily="2" charset="-122"/>
              </a:rPr>
              <a:t>：理解概念方法思路，并运用于日常学习、生活管理</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能力训练</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冲突管理课程内容</a:t>
            </a:r>
          </a:p>
        </p:txBody>
      </p:sp>
      <p:sp>
        <p:nvSpPr>
          <p:cNvPr id="3" name="内容占位符 2"/>
          <p:cNvSpPr>
            <a:spLocks noGrp="1"/>
          </p:cNvSpPr>
          <p:nvPr>
            <p:ph idx="1"/>
          </p:nvPr>
        </p:nvSpPr>
        <p:spPr/>
        <p:txBody>
          <a:bodyPr>
            <a:normAutofit fontScale="92500" lnSpcReduction="20000"/>
          </a:bodyPr>
          <a:lstStyle/>
          <a:p>
            <a:r>
              <a:rPr lang="zh-CN" altLang="en-US" sz="2800" b="1" dirty="0">
                <a:latin typeface="华文宋体" pitchFamily="2" charset="-122"/>
                <a:ea typeface="华文宋体" pitchFamily="2" charset="-122"/>
              </a:rPr>
              <a:t>所以，本课程要学习的内容主要有：</a:t>
            </a:r>
            <a:endParaRPr lang="en-US" altLang="zh-CN" sz="2800" b="1" dirty="0">
              <a:latin typeface="华文宋体" pitchFamily="2" charset="-122"/>
              <a:ea typeface="华文宋体" pitchFamily="2" charset="-122"/>
            </a:endParaRPr>
          </a:p>
          <a:p>
            <a:pPr>
              <a:buFont typeface="Wingdings" pitchFamily="2" charset="2"/>
              <a:buChar char="Ø"/>
            </a:pPr>
            <a:r>
              <a:rPr lang="zh-CN" altLang="en-US" sz="2800" dirty="0">
                <a:latin typeface="华文宋体" pitchFamily="2" charset="-122"/>
                <a:ea typeface="华文宋体" pitchFamily="2" charset="-122"/>
              </a:rPr>
              <a:t>第一章：课程前言（导论）</a:t>
            </a:r>
            <a:endParaRPr lang="en-US" altLang="zh-CN" sz="2800" dirty="0">
              <a:latin typeface="华文宋体" pitchFamily="2" charset="-122"/>
              <a:ea typeface="华文宋体" pitchFamily="2" charset="-122"/>
            </a:endParaRPr>
          </a:p>
          <a:p>
            <a:pPr>
              <a:buFont typeface="Wingdings" pitchFamily="2" charset="2"/>
              <a:buChar char="Ø"/>
            </a:pPr>
            <a:r>
              <a:rPr lang="zh-CN" altLang="en-US" sz="2800" dirty="0">
                <a:latin typeface="华文宋体" pitchFamily="2" charset="-122"/>
                <a:ea typeface="华文宋体" pitchFamily="2" charset="-122"/>
              </a:rPr>
              <a:t>第二章：冲突概论</a:t>
            </a:r>
            <a:endParaRPr lang="en-US" altLang="zh-CN" sz="2800" dirty="0">
              <a:latin typeface="华文宋体" pitchFamily="2" charset="-122"/>
              <a:ea typeface="华文宋体" pitchFamily="2" charset="-122"/>
            </a:endParaRPr>
          </a:p>
          <a:p>
            <a:pPr>
              <a:buFont typeface="Wingdings" pitchFamily="2" charset="2"/>
              <a:buChar char="Ø"/>
            </a:pPr>
            <a:r>
              <a:rPr lang="zh-CN" altLang="en-US" sz="2800" dirty="0">
                <a:latin typeface="华文宋体" pitchFamily="2" charset="-122"/>
                <a:ea typeface="华文宋体" pitchFamily="2" charset="-122"/>
              </a:rPr>
              <a:t>第三章：个体的自我冲突</a:t>
            </a:r>
            <a:endParaRPr lang="en-US" altLang="zh-CN" sz="2800" dirty="0">
              <a:latin typeface="华文宋体" pitchFamily="2" charset="-122"/>
              <a:ea typeface="华文宋体" pitchFamily="2" charset="-122"/>
            </a:endParaRPr>
          </a:p>
          <a:p>
            <a:pPr>
              <a:buFont typeface="Wingdings" pitchFamily="2" charset="2"/>
              <a:buChar char="Ø"/>
            </a:pPr>
            <a:r>
              <a:rPr lang="zh-CN" altLang="en-US" sz="2800" dirty="0">
                <a:latin typeface="华文宋体" pitchFamily="2" charset="-122"/>
                <a:ea typeface="华文宋体" pitchFamily="2" charset="-122"/>
              </a:rPr>
              <a:t>第四章：冲突管理概论</a:t>
            </a:r>
            <a:endParaRPr lang="en-US" altLang="zh-CN" sz="2800" dirty="0">
              <a:latin typeface="华文宋体" pitchFamily="2" charset="-122"/>
              <a:ea typeface="华文宋体" pitchFamily="2" charset="-122"/>
            </a:endParaRPr>
          </a:p>
          <a:p>
            <a:pPr>
              <a:buFont typeface="Wingdings" pitchFamily="2" charset="2"/>
              <a:buChar char="Ø"/>
            </a:pPr>
            <a:r>
              <a:rPr lang="zh-CN" altLang="en-US" sz="2800" dirty="0">
                <a:latin typeface="华文宋体" pitchFamily="2" charset="-122"/>
                <a:ea typeface="华文宋体" pitchFamily="2" charset="-122"/>
              </a:rPr>
              <a:t>第五章：冲突管理策略分析</a:t>
            </a:r>
            <a:endParaRPr lang="en-US" altLang="zh-CN" sz="2800" dirty="0">
              <a:latin typeface="华文宋体" pitchFamily="2" charset="-122"/>
              <a:ea typeface="华文宋体" pitchFamily="2" charset="-122"/>
            </a:endParaRPr>
          </a:p>
          <a:p>
            <a:pPr>
              <a:buFont typeface="Wingdings" pitchFamily="2" charset="2"/>
              <a:buChar char="Ø"/>
            </a:pPr>
            <a:r>
              <a:rPr lang="zh-CN" altLang="en-US" sz="2800" dirty="0">
                <a:latin typeface="华文宋体" pitchFamily="2" charset="-122"/>
                <a:ea typeface="华文宋体" pitchFamily="2" charset="-122"/>
              </a:rPr>
              <a:t>第六章</a:t>
            </a:r>
            <a:r>
              <a:rPr lang="en-US" altLang="zh-CN" sz="2800" dirty="0">
                <a:latin typeface="华文宋体" pitchFamily="2" charset="-122"/>
                <a:ea typeface="华文宋体" pitchFamily="2" charset="-122"/>
              </a:rPr>
              <a:t>:   </a:t>
            </a:r>
            <a:r>
              <a:rPr lang="zh-CN" altLang="en-US" sz="2800" dirty="0">
                <a:latin typeface="华文宋体" pitchFamily="2" charset="-122"/>
                <a:ea typeface="华文宋体" pitchFamily="2" charset="-122"/>
              </a:rPr>
              <a:t>冲突管理专题</a:t>
            </a:r>
            <a:endParaRPr lang="en-US" altLang="zh-CN" sz="2800" dirty="0">
              <a:latin typeface="华文宋体" pitchFamily="2" charset="-122"/>
              <a:ea typeface="华文宋体" pitchFamily="2" charset="-122"/>
            </a:endParaRPr>
          </a:p>
          <a:p>
            <a:pPr marL="0" indent="0">
              <a:buNone/>
            </a:pPr>
            <a:r>
              <a:rPr lang="en-US" altLang="zh-CN" sz="2800" dirty="0">
                <a:latin typeface="华文宋体" pitchFamily="2" charset="-122"/>
                <a:ea typeface="华文宋体" pitchFamily="2" charset="-122"/>
              </a:rPr>
              <a:t>                     </a:t>
            </a:r>
            <a:r>
              <a:rPr lang="zh-CN" altLang="en-US" sz="2800" dirty="0">
                <a:latin typeface="华文宋体" pitchFamily="2" charset="-122"/>
                <a:ea typeface="华文宋体" pitchFamily="2" charset="-122"/>
              </a:rPr>
              <a:t>情绪与冲突管理；</a:t>
            </a:r>
            <a:endParaRPr lang="en-US" altLang="zh-CN" sz="2800" dirty="0">
              <a:latin typeface="华文宋体" pitchFamily="2" charset="-122"/>
              <a:ea typeface="华文宋体" pitchFamily="2" charset="-122"/>
            </a:endParaRPr>
          </a:p>
          <a:p>
            <a:pPr marL="0" indent="0">
              <a:buNone/>
            </a:pPr>
            <a:r>
              <a:rPr lang="en-US" altLang="zh-CN" sz="2800" dirty="0">
                <a:latin typeface="华文宋体" pitchFamily="2" charset="-122"/>
                <a:ea typeface="华文宋体" pitchFamily="2" charset="-122"/>
              </a:rPr>
              <a:t>                     </a:t>
            </a:r>
            <a:r>
              <a:rPr lang="zh-CN" altLang="en-US" sz="2800" dirty="0">
                <a:latin typeface="华文宋体" pitchFamily="2" charset="-122"/>
                <a:ea typeface="华文宋体" pitchFamily="2" charset="-122"/>
              </a:rPr>
              <a:t>认知冲突与管理；</a:t>
            </a:r>
            <a:endParaRPr lang="en-US" altLang="zh-CN" sz="2800" dirty="0">
              <a:latin typeface="华文宋体" pitchFamily="2" charset="-122"/>
              <a:ea typeface="华文宋体" pitchFamily="2" charset="-122"/>
            </a:endParaRPr>
          </a:p>
          <a:p>
            <a:pPr marL="0" indent="0">
              <a:buNone/>
            </a:pPr>
            <a:r>
              <a:rPr lang="en-US" altLang="zh-CN" sz="2800" dirty="0">
                <a:latin typeface="华文宋体" pitchFamily="2" charset="-122"/>
                <a:ea typeface="华文宋体" pitchFamily="2" charset="-122"/>
              </a:rPr>
              <a:t>                     </a:t>
            </a:r>
            <a:r>
              <a:rPr lang="zh-CN" altLang="en-US" sz="2800" dirty="0">
                <a:latin typeface="华文宋体" pitchFamily="2" charset="-122"/>
                <a:ea typeface="华文宋体" pitchFamily="2" charset="-122"/>
              </a:rPr>
              <a:t>群体冲突与管理；</a:t>
            </a:r>
            <a:endParaRPr lang="en-US" altLang="zh-CN" sz="2800" dirty="0">
              <a:latin typeface="华文宋体" pitchFamily="2" charset="-122"/>
              <a:ea typeface="华文宋体" pitchFamily="2" charset="-122"/>
            </a:endParaRPr>
          </a:p>
          <a:p>
            <a:pPr marL="0" indent="0">
              <a:buNone/>
            </a:pPr>
            <a:r>
              <a:rPr lang="zh-CN" altLang="en-US" sz="2800" dirty="0">
                <a:latin typeface="华文宋体" pitchFamily="2" charset="-122"/>
                <a:ea typeface="华文宋体" pitchFamily="2" charset="-122"/>
              </a:rPr>
              <a:t>                     组织冲突与管理；等等</a:t>
            </a:r>
            <a:r>
              <a:rPr lang="en-US" altLang="zh-CN" sz="2800" dirty="0">
                <a:latin typeface="华文宋体" pitchFamily="2" charset="-122"/>
                <a:ea typeface="华文宋体" pitchFamily="2" charset="-122"/>
              </a:rPr>
              <a:t> </a:t>
            </a:r>
            <a:endParaRPr lang="zh-CN" altLang="en-US" sz="2800" dirty="0">
              <a:latin typeface="华文宋体" pitchFamily="2" charset="-122"/>
              <a:ea typeface="华文宋体"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21</a:t>
            </a:fld>
            <a:endParaRPr lang="zh-CN" altLang="en-US"/>
          </a:p>
        </p:txBody>
      </p:sp>
    </p:spTree>
    <p:extLst>
      <p:ext uri="{BB962C8B-B14F-4D97-AF65-F5344CB8AC3E}">
        <p14:creationId xmlns:p14="http://schemas.microsoft.com/office/powerpoint/2010/main" val="1683412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冲突管理课程内容</a:t>
            </a:r>
          </a:p>
        </p:txBody>
      </p:sp>
      <p:sp>
        <p:nvSpPr>
          <p:cNvPr id="3" name="内容占位符 2"/>
          <p:cNvSpPr>
            <a:spLocks noGrp="1"/>
          </p:cNvSpPr>
          <p:nvPr>
            <p:ph idx="1"/>
          </p:nvPr>
        </p:nvSpPr>
        <p:spPr/>
        <p:txBody>
          <a:bodyPr>
            <a:normAutofit/>
          </a:bodyPr>
          <a:lstStyle/>
          <a:p>
            <a:r>
              <a:rPr lang="zh-CN" altLang="en-US" sz="2800" b="1" dirty="0">
                <a:latin typeface="华文宋体" pitchFamily="2" charset="-122"/>
                <a:ea typeface="华文宋体" pitchFamily="2" charset="-122"/>
              </a:rPr>
              <a:t>从以上冲突管理内容来看，课本难以符合；</a:t>
            </a:r>
            <a:endParaRPr lang="en-US" altLang="zh-CN" sz="2800" b="1" dirty="0">
              <a:latin typeface="华文宋体" pitchFamily="2" charset="-122"/>
              <a:ea typeface="华文宋体" pitchFamily="2" charset="-122"/>
            </a:endParaRPr>
          </a:p>
          <a:p>
            <a:pPr marL="0" indent="0">
              <a:buNone/>
            </a:pPr>
            <a:r>
              <a:rPr lang="zh-CN" altLang="en-US" sz="2800" b="1" dirty="0">
                <a:latin typeface="华文宋体" pitchFamily="2" charset="-122"/>
                <a:ea typeface="华文宋体" pitchFamily="2" charset="-122"/>
              </a:rPr>
              <a:t>所以，课本作用：</a:t>
            </a:r>
            <a:endParaRPr lang="en-US" altLang="zh-CN" sz="2800" b="1" dirty="0">
              <a:latin typeface="华文宋体" pitchFamily="2" charset="-122"/>
              <a:ea typeface="华文宋体" pitchFamily="2" charset="-122"/>
            </a:endParaRPr>
          </a:p>
          <a:p>
            <a:pPr>
              <a:buFont typeface="Wingdings" pitchFamily="2" charset="2"/>
              <a:buChar char="Ø"/>
            </a:pPr>
            <a:r>
              <a:rPr lang="zh-CN" altLang="en-US" sz="2800" dirty="0">
                <a:latin typeface="华文宋体" pitchFamily="2" charset="-122"/>
                <a:ea typeface="华文宋体" pitchFamily="2" charset="-122"/>
              </a:rPr>
              <a:t>参考书之一；</a:t>
            </a:r>
            <a:endParaRPr lang="en-US" altLang="zh-CN" sz="2800" dirty="0">
              <a:latin typeface="华文宋体" pitchFamily="2" charset="-122"/>
              <a:ea typeface="华文宋体" pitchFamily="2" charset="-122"/>
            </a:endParaRPr>
          </a:p>
          <a:p>
            <a:pPr>
              <a:buFont typeface="Wingdings" pitchFamily="2" charset="2"/>
              <a:buChar char="Ø"/>
            </a:pPr>
            <a:r>
              <a:rPr lang="zh-CN" altLang="en-US" sz="2800" dirty="0">
                <a:latin typeface="华文宋体" pitchFamily="2" charset="-122"/>
                <a:ea typeface="华文宋体" pitchFamily="2" charset="-122"/>
              </a:rPr>
              <a:t>还有很多其他参考书，关于冲突、冲突管理，但都是作者从某个视角看待包含内容广泛的冲突与冲突管理；</a:t>
            </a:r>
            <a:endParaRPr lang="en-US" altLang="zh-CN" sz="2800" dirty="0">
              <a:latin typeface="华文宋体" pitchFamily="2" charset="-122"/>
              <a:ea typeface="华文宋体" pitchFamily="2" charset="-122"/>
            </a:endParaRPr>
          </a:p>
          <a:p>
            <a:pPr>
              <a:buFont typeface="Wingdings" pitchFamily="2" charset="2"/>
              <a:buChar char="Ø"/>
            </a:pPr>
            <a:r>
              <a:rPr lang="zh-CN" altLang="en-US" sz="2800" dirty="0">
                <a:latin typeface="华文宋体" pitchFamily="2" charset="-122"/>
                <a:ea typeface="华文宋体" pitchFamily="2" charset="-122"/>
              </a:rPr>
              <a:t>以及中国知网</a:t>
            </a:r>
            <a:r>
              <a:rPr lang="en-US" altLang="zh-CN" sz="2800" dirty="0" err="1">
                <a:latin typeface="华文宋体" pitchFamily="2" charset="-122"/>
                <a:ea typeface="华文宋体" pitchFamily="2" charset="-122"/>
              </a:rPr>
              <a:t>cssci</a:t>
            </a:r>
            <a:r>
              <a:rPr lang="zh-CN" altLang="en-US" sz="2800" dirty="0">
                <a:latin typeface="华文宋体" pitchFamily="2" charset="-122"/>
                <a:ea typeface="华文宋体" pitchFamily="2" charset="-122"/>
              </a:rPr>
              <a:t>检索的管理、心理类学术期刊。</a:t>
            </a:r>
          </a:p>
        </p:txBody>
      </p:sp>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100" b="0" i="0" u="none" strike="noStrike" kern="1200" cap="none" spc="0" normalizeH="0" baseline="0" noProof="0" smtClean="0">
                <a:ln>
                  <a:noFill/>
                </a:ln>
                <a:solidFill>
                  <a:srgbClr val="2F2F2F">
                    <a:lumMod val="75000"/>
                    <a:lumOff val="25000"/>
                  </a:srgbClr>
                </a:solidFill>
                <a:effectLst/>
                <a:uLnTx/>
                <a:uFillTx/>
                <a:latin typeface="Franklin Gothic Book"/>
                <a:ea typeface="黑体" panose="020106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zh-CN" altLang="en-US" sz="1100" b="0" i="0" u="none" strike="noStrike" kern="1200" cap="none" spc="0" normalizeH="0" baseline="0" noProof="0">
              <a:ln>
                <a:noFill/>
              </a:ln>
              <a:solidFill>
                <a:srgbClr val="2F2F2F">
                  <a:lumMod val="75000"/>
                  <a:lumOff val="25000"/>
                </a:srgbClr>
              </a:solidFill>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1522807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冲突管理课程如何学？</a:t>
            </a:r>
          </a:p>
        </p:txBody>
      </p:sp>
      <p:sp>
        <p:nvSpPr>
          <p:cNvPr id="3" name="内容占位符 2"/>
          <p:cNvSpPr>
            <a:spLocks noGrp="1"/>
          </p:cNvSpPr>
          <p:nvPr>
            <p:ph idx="1"/>
          </p:nvPr>
        </p:nvSpPr>
        <p:spPr>
          <a:xfrm>
            <a:off x="457200" y="1357298"/>
            <a:ext cx="8229600" cy="4929222"/>
          </a:xfrm>
        </p:spPr>
        <p:txBody>
          <a:bodyPr>
            <a:normAutofit lnSpcReduction="10000"/>
          </a:bodyPr>
          <a:lstStyle/>
          <a:p>
            <a:r>
              <a:rPr lang="zh-CN" altLang="en-US" dirty="0"/>
              <a:t>课程特征（社会科学）：</a:t>
            </a:r>
            <a:endParaRPr lang="en-US" altLang="zh-CN" dirty="0"/>
          </a:p>
          <a:p>
            <a:pPr>
              <a:buFont typeface="Wingdings" pitchFamily="2" charset="2"/>
              <a:buChar char="Ø"/>
            </a:pPr>
            <a:r>
              <a:rPr lang="zh-CN" altLang="en-US" sz="2800" dirty="0">
                <a:latin typeface="华文宋体" pitchFamily="2" charset="-122"/>
                <a:ea typeface="华文宋体" pitchFamily="2" charset="-122"/>
              </a:rPr>
              <a:t>理论概念、过程、策略部分有很多以往理论思路与成果：</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理论指导作用；</a:t>
            </a:r>
            <a:endParaRPr lang="en-US" altLang="zh-CN" sz="2800" dirty="0">
              <a:latin typeface="华文宋体" pitchFamily="2" charset="-122"/>
              <a:ea typeface="华文宋体" pitchFamily="2" charset="-122"/>
            </a:endParaRPr>
          </a:p>
          <a:p>
            <a:pPr>
              <a:buFont typeface="Wingdings" pitchFamily="2" charset="2"/>
              <a:buChar char="Ø"/>
            </a:pPr>
            <a:r>
              <a:rPr lang="zh-CN" altLang="en-US" sz="2800" dirty="0">
                <a:latin typeface="华文宋体" pitchFamily="2" charset="-122"/>
                <a:ea typeface="华文宋体" pitchFamily="2" charset="-122"/>
              </a:rPr>
              <a:t>实践锻炼：以上理论内容都是定性的、有条件的，必须结合实践（阅读、理解、训练、现实实践），才能真正掌握与深入</a:t>
            </a:r>
            <a:endParaRPr lang="en-US" altLang="zh-CN" sz="2800" dirty="0">
              <a:latin typeface="华文宋体" pitchFamily="2" charset="-122"/>
              <a:ea typeface="华文宋体" pitchFamily="2" charset="-122"/>
            </a:endParaRPr>
          </a:p>
          <a:p>
            <a:r>
              <a:rPr lang="zh-CN" altLang="en-US" sz="2800" b="1" dirty="0">
                <a:latin typeface="华文宋体" pitchFamily="2" charset="-122"/>
                <a:ea typeface="华文宋体" pitchFamily="2" charset="-122"/>
              </a:rPr>
              <a:t>进一步讨论：</a:t>
            </a:r>
            <a:r>
              <a:rPr lang="zh-CN" altLang="en-US" sz="2800" dirty="0">
                <a:latin typeface="华文宋体" pitchFamily="2" charset="-122"/>
                <a:ea typeface="华文宋体" pitchFamily="2" charset="-122"/>
              </a:rPr>
              <a:t>你学习了社会学科这么多课程，你觉得你每门课学到的最重要的东西是什么，举例。</a:t>
            </a:r>
            <a:endParaRPr lang="en-US" altLang="zh-CN" sz="2800" dirty="0">
              <a:latin typeface="华文宋体" pitchFamily="2" charset="-122"/>
              <a:ea typeface="华文宋体" pitchFamily="2" charset="-122"/>
            </a:endParaRPr>
          </a:p>
          <a:p>
            <a:r>
              <a:rPr lang="zh-CN" altLang="en-US" sz="2800" dirty="0"/>
              <a:t>你的学习</a:t>
            </a:r>
            <a:r>
              <a:rPr lang="zh-CN" altLang="en-US" dirty="0"/>
              <a:t>：</a:t>
            </a:r>
            <a:r>
              <a:rPr lang="zh-CN" altLang="en-US" sz="2800" dirty="0">
                <a:latin typeface="华文宋体" pitchFamily="2" charset="-122"/>
                <a:ea typeface="华文宋体" pitchFamily="2" charset="-122"/>
              </a:rPr>
              <a:t>建立冲突管理的概念、理论框架，注重相关经典阅读的积累，学习、实践、应用、提升，不断反复、上升。</a:t>
            </a:r>
            <a:endParaRPr lang="en-US" altLang="zh-CN" sz="2800" dirty="0">
              <a:latin typeface="华文宋体" pitchFamily="2" charset="-122"/>
              <a:ea typeface="华文宋体" pitchFamily="2" charset="-122"/>
            </a:endParaRP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eaLnBrk="1" hangingPunct="1">
              <a:buFont typeface="Arial" charset="0"/>
              <a:buNone/>
            </a:pPr>
            <a:fld id="{30A68766-BC8E-4A32-9F48-52973832814F}" type="slidenum">
              <a:rPr lang="zh-CN" altLang="en-US" smtClean="0">
                <a:solidFill>
                  <a:srgbClr val="007A77"/>
                </a:solidFill>
              </a:rPr>
              <a:pPr eaLnBrk="1" hangingPunct="1">
                <a:buFont typeface="Arial" charset="0"/>
                <a:buNone/>
              </a:pPr>
              <a:t>24</a:t>
            </a:fld>
            <a:endParaRPr lang="zh-CN" altLang="en-US">
              <a:solidFill>
                <a:srgbClr val="007A77"/>
              </a:solidFill>
            </a:endParaRPr>
          </a:p>
        </p:txBody>
      </p:sp>
      <p:sp>
        <p:nvSpPr>
          <p:cNvPr id="17412" name="Rectangle 3"/>
          <p:cNvSpPr>
            <a:spLocks noGrp="1" noRot="1" noChangeArrowheads="1"/>
          </p:cNvSpPr>
          <p:nvPr>
            <p:ph idx="1"/>
          </p:nvPr>
        </p:nvSpPr>
        <p:spPr>
          <a:xfrm>
            <a:off x="914400" y="1905000"/>
            <a:ext cx="7927975" cy="4194175"/>
          </a:xfrm>
        </p:spPr>
        <p:txBody>
          <a:bodyPr/>
          <a:lstStyle/>
          <a:p>
            <a:pPr eaLnBrk="1" hangingPunct="1">
              <a:buFont typeface="Wingdings" pitchFamily="2" charset="2"/>
              <a:buNone/>
            </a:pPr>
            <a:r>
              <a:rPr lang="zh-CN" altLang="en-US" sz="2800" dirty="0"/>
              <a:t>开阔视野，打开思路；</a:t>
            </a:r>
          </a:p>
          <a:p>
            <a:pPr eaLnBrk="1" hangingPunct="1">
              <a:buFont typeface="Wingdings" pitchFamily="2" charset="2"/>
              <a:buNone/>
            </a:pPr>
            <a:r>
              <a:rPr lang="zh-CN" altLang="en-US" sz="2800" dirty="0"/>
              <a:t>提高对于实践运作分析问题、解决问题的能力；</a:t>
            </a:r>
          </a:p>
          <a:p>
            <a:pPr eaLnBrk="1" hangingPunct="1">
              <a:buFont typeface="Wingdings" pitchFamily="2" charset="2"/>
              <a:buNone/>
            </a:pPr>
            <a:r>
              <a:rPr lang="zh-CN" altLang="en-US" sz="2800" dirty="0"/>
              <a:t>在学习的同时，尝试思考和解决本组织、本人、班级、各类团队问题。</a:t>
            </a:r>
          </a:p>
          <a:p>
            <a:pPr eaLnBrk="1" hangingPunct="1">
              <a:buFont typeface="Wingdings" pitchFamily="2" charset="2"/>
              <a:buNone/>
            </a:pPr>
            <a:endParaRPr lang="zh-CN" altLang="en-US" sz="2800" dirty="0"/>
          </a:p>
          <a:p>
            <a:pPr eaLnBrk="1" hangingPunct="1">
              <a:buFont typeface="Wingdings" pitchFamily="2" charset="2"/>
              <a:buNone/>
            </a:pPr>
            <a:r>
              <a:rPr lang="zh-CN" altLang="en-US" sz="2800" b="1" dirty="0">
                <a:solidFill>
                  <a:schemeClr val="hlink"/>
                </a:solidFill>
              </a:rPr>
              <a:t>特别指出</a:t>
            </a:r>
            <a:r>
              <a:rPr lang="zh-CN" altLang="en-US" sz="2800" dirty="0"/>
              <a:t>：社会、管理问题，没有绝对的对错，所以，学习和执行过程中，更在乎你的有没有思想、论述依据，你的价值观等。</a:t>
            </a:r>
          </a:p>
        </p:txBody>
      </p:sp>
      <p:sp>
        <p:nvSpPr>
          <p:cNvPr id="17413" name="Rectangle 4"/>
          <p:cNvSpPr>
            <a:spLocks noChangeArrowheads="1"/>
          </p:cNvSpPr>
          <p:nvPr/>
        </p:nvSpPr>
        <p:spPr bwMode="auto">
          <a:xfrm>
            <a:off x="2438400" y="762000"/>
            <a:ext cx="32702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buFont typeface="Arial" charset="0"/>
              <a:buNone/>
            </a:pPr>
            <a:r>
              <a:rPr lang="zh-CN" altLang="en-US" sz="3200" b="1">
                <a:solidFill>
                  <a:srgbClr val="007A77"/>
                </a:solidFill>
                <a:latin typeface="Tahoma" pitchFamily="34" charset="0"/>
              </a:rPr>
              <a:t>课程目标：</a:t>
            </a:r>
          </a:p>
        </p:txBody>
      </p:sp>
    </p:spTree>
    <p:extLst>
      <p:ext uri="{BB962C8B-B14F-4D97-AF65-F5344CB8AC3E}">
        <p14:creationId xmlns:p14="http://schemas.microsoft.com/office/powerpoint/2010/main" val="1947796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eaLnBrk="1" hangingPunct="1">
              <a:buFont typeface="Arial" charset="0"/>
              <a:buNone/>
            </a:pPr>
            <a:fld id="{44B5E12B-623D-4E3B-A2C1-22F66E5FE321}" type="slidenum">
              <a:rPr lang="zh-CN" altLang="en-US" smtClean="0">
                <a:solidFill>
                  <a:srgbClr val="007A77"/>
                </a:solidFill>
              </a:rPr>
              <a:pPr eaLnBrk="1" hangingPunct="1">
                <a:buFont typeface="Arial" charset="0"/>
                <a:buNone/>
              </a:pPr>
              <a:t>25</a:t>
            </a:fld>
            <a:endParaRPr lang="zh-CN" altLang="en-US">
              <a:solidFill>
                <a:srgbClr val="007A77"/>
              </a:solidFill>
            </a:endParaRPr>
          </a:p>
        </p:txBody>
      </p:sp>
      <p:sp>
        <p:nvSpPr>
          <p:cNvPr id="18436" name="Rectangle 2"/>
          <p:cNvSpPr>
            <a:spLocks noGrp="1" noRot="1" noChangeArrowheads="1"/>
          </p:cNvSpPr>
          <p:nvPr>
            <p:ph type="title"/>
          </p:nvPr>
        </p:nvSpPr>
        <p:spPr/>
        <p:txBody>
          <a:bodyPr/>
          <a:lstStyle/>
          <a:p>
            <a:pPr eaLnBrk="1" hangingPunct="1"/>
            <a:r>
              <a:rPr lang="zh-CN" altLang="en-US"/>
              <a:t>如何检验你的学习效果？</a:t>
            </a:r>
          </a:p>
        </p:txBody>
      </p:sp>
      <p:sp>
        <p:nvSpPr>
          <p:cNvPr id="18437" name="Rectangle 3"/>
          <p:cNvSpPr>
            <a:spLocks noGrp="1" noRot="1" noChangeArrowheads="1"/>
          </p:cNvSpPr>
          <p:nvPr>
            <p:ph idx="1"/>
          </p:nvPr>
        </p:nvSpPr>
        <p:spPr/>
        <p:txBody>
          <a:bodyPr/>
          <a:lstStyle/>
          <a:p>
            <a:pPr eaLnBrk="1" hangingPunct="1">
              <a:lnSpc>
                <a:spcPct val="90000"/>
              </a:lnSpc>
            </a:pPr>
            <a:r>
              <a:rPr lang="zh-CN" altLang="en-US" sz="2800" dirty="0"/>
              <a:t>概念框架</a:t>
            </a:r>
          </a:p>
          <a:p>
            <a:pPr eaLnBrk="1" hangingPunct="1">
              <a:lnSpc>
                <a:spcPct val="90000"/>
              </a:lnSpc>
            </a:pPr>
            <a:r>
              <a:rPr lang="zh-CN" altLang="en-US" sz="2800" dirty="0"/>
              <a:t>分析能力</a:t>
            </a:r>
          </a:p>
          <a:p>
            <a:pPr eaLnBrk="1" hangingPunct="1">
              <a:lnSpc>
                <a:spcPct val="90000"/>
              </a:lnSpc>
            </a:pPr>
            <a:r>
              <a:rPr lang="zh-CN" altLang="en-US" sz="2800" dirty="0"/>
              <a:t>实践能力</a:t>
            </a:r>
            <a:endParaRPr lang="en-US" altLang="zh-CN" sz="2800" dirty="0"/>
          </a:p>
          <a:p>
            <a:pPr eaLnBrk="1" hangingPunct="1">
              <a:lnSpc>
                <a:spcPct val="90000"/>
              </a:lnSpc>
            </a:pPr>
            <a:r>
              <a:rPr lang="zh-CN" altLang="en-US" sz="2800" dirty="0"/>
              <a:t>简言之，理解、掌握概念；理解并运用理论思考；不断采用所学冲突管理方法处理实践问题。</a:t>
            </a:r>
          </a:p>
        </p:txBody>
      </p:sp>
    </p:spTree>
    <p:extLst>
      <p:ext uri="{BB962C8B-B14F-4D97-AF65-F5344CB8AC3E}">
        <p14:creationId xmlns:p14="http://schemas.microsoft.com/office/powerpoint/2010/main" val="18944725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回归前面的话</a:t>
            </a:r>
            <a:r>
              <a:rPr lang="en-US" altLang="zh-CN" dirty="0"/>
              <a:t>--</a:t>
            </a:r>
            <a:r>
              <a:rPr lang="zh-CN" altLang="en-US" sz="3200" dirty="0"/>
              <a:t>该怎么学</a:t>
            </a:r>
          </a:p>
        </p:txBody>
      </p:sp>
      <p:sp>
        <p:nvSpPr>
          <p:cNvPr id="3" name="内容占位符 2"/>
          <p:cNvSpPr>
            <a:spLocks noGrp="1"/>
          </p:cNvSpPr>
          <p:nvPr>
            <p:ph idx="1"/>
          </p:nvPr>
        </p:nvSpPr>
        <p:spPr/>
        <p:txBody>
          <a:bodyPr>
            <a:normAutofit fontScale="77500" lnSpcReduction="20000"/>
          </a:bodyPr>
          <a:lstStyle/>
          <a:p>
            <a:pPr>
              <a:lnSpc>
                <a:spcPct val="120000"/>
              </a:lnSpc>
            </a:pPr>
            <a:r>
              <a:rPr lang="zh-CN" altLang="en-US" dirty="0">
                <a:latin typeface="楷体" pitchFamily="49" charset="-122"/>
                <a:ea typeface="楷体" pitchFamily="49" charset="-122"/>
              </a:rPr>
              <a:t>我们每个人都生活在一个人造的概念、人造物构成的世界中，只有让你的人生属于你自己，拥有自我的真实意义，我想，那就是人生幸福（非快乐）的源泉。</a:t>
            </a:r>
            <a:endParaRPr lang="en-US" altLang="zh-CN" dirty="0">
              <a:latin typeface="楷体" pitchFamily="49" charset="-122"/>
              <a:ea typeface="楷体" pitchFamily="49" charset="-122"/>
            </a:endParaRPr>
          </a:p>
          <a:p>
            <a:pPr>
              <a:lnSpc>
                <a:spcPct val="120000"/>
              </a:lnSpc>
            </a:pPr>
            <a:r>
              <a:rPr lang="zh-CN" altLang="en-US" dirty="0">
                <a:latin typeface="楷体" pitchFamily="49" charset="-122"/>
                <a:ea typeface="楷体" pitchFamily="49" charset="-122"/>
              </a:rPr>
              <a:t>所以，强调理解</a:t>
            </a:r>
            <a:r>
              <a:rPr lang="en-US" altLang="zh-CN" dirty="0">
                <a:latin typeface="楷体" pitchFamily="49" charset="-122"/>
                <a:ea typeface="楷体" pitchFamily="49" charset="-122"/>
              </a:rPr>
              <a:t>——</a:t>
            </a:r>
            <a:r>
              <a:rPr lang="zh-CN" altLang="en-US" dirty="0">
                <a:latin typeface="楷体" pitchFamily="49" charset="-122"/>
                <a:ea typeface="楷体" pitchFamily="49" charset="-122"/>
              </a:rPr>
              <a:t>客观理解</a:t>
            </a:r>
            <a:r>
              <a:rPr lang="en-US" altLang="zh-CN" dirty="0">
                <a:latin typeface="楷体" pitchFamily="49" charset="-122"/>
                <a:ea typeface="楷体" pitchFamily="49" charset="-122"/>
              </a:rPr>
              <a:t>——</a:t>
            </a:r>
            <a:r>
              <a:rPr lang="zh-CN" altLang="en-US" dirty="0">
                <a:latin typeface="楷体" pitchFamily="49" charset="-122"/>
                <a:ea typeface="楷体" pitchFamily="49" charset="-122"/>
              </a:rPr>
              <a:t>科学理解，当你对一个事物（概念）能用自己的语言简洁表达，你有了基本的来自自我的理解；当你不断采用客观（数据）与科学的思路去分析事物，解决问题时，你就具有了较高的能力，面对自己的生活、工作与意义，不断获得更多的、作为人的自由。</a:t>
            </a:r>
            <a:endParaRPr lang="en-US" altLang="zh-CN" dirty="0">
              <a:latin typeface="楷体" pitchFamily="49" charset="-122"/>
              <a:ea typeface="楷体" pitchFamily="49" charset="-122"/>
            </a:endParaRPr>
          </a:p>
          <a:p>
            <a:pPr>
              <a:lnSpc>
                <a:spcPct val="120000"/>
              </a:lnSpc>
            </a:pPr>
            <a:r>
              <a:rPr lang="zh-CN" altLang="en-US" dirty="0">
                <a:latin typeface="楷体" pitchFamily="49" charset="-122"/>
                <a:ea typeface="楷体" pitchFamily="49" charset="-122"/>
              </a:rPr>
              <a:t>学习什么：理解掌握概念、理论、方法论；不断理解、实践、提升！</a:t>
            </a:r>
          </a:p>
        </p:txBody>
      </p:sp>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100" b="0" i="0" u="none" strike="noStrike" kern="1200" cap="none" spc="0" normalizeH="0" baseline="0" noProof="0" smtClean="0">
                <a:ln>
                  <a:noFill/>
                </a:ln>
                <a:solidFill>
                  <a:srgbClr val="2F2F2F">
                    <a:lumMod val="75000"/>
                    <a:lumOff val="25000"/>
                  </a:srgbClr>
                </a:solidFill>
                <a:effectLst/>
                <a:uLnTx/>
                <a:uFillTx/>
                <a:latin typeface="Franklin Gothic Book"/>
                <a:ea typeface="黑体" panose="020106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zh-CN" altLang="en-US" sz="1100" b="0" i="0" u="none" strike="noStrike" kern="1200" cap="none" spc="0" normalizeH="0" baseline="0" noProof="0">
              <a:ln>
                <a:noFill/>
              </a:ln>
              <a:solidFill>
                <a:srgbClr val="2F2F2F">
                  <a:lumMod val="75000"/>
                  <a:lumOff val="25000"/>
                </a:srgbClr>
              </a:solidFill>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407804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eaLnBrk="1" hangingPunct="1">
              <a:buFont typeface="Arial" charset="0"/>
              <a:buNone/>
            </a:pPr>
            <a:fld id="{05890D2B-BFD0-41F0-ADC1-9231A1252388}" type="slidenum">
              <a:rPr lang="zh-CN" altLang="en-US" smtClean="0">
                <a:solidFill>
                  <a:srgbClr val="007A77"/>
                </a:solidFill>
              </a:rPr>
              <a:pPr eaLnBrk="1" hangingPunct="1">
                <a:buFont typeface="Arial" charset="0"/>
                <a:buNone/>
              </a:pPr>
              <a:t>27</a:t>
            </a:fld>
            <a:endParaRPr lang="zh-CN" altLang="en-US">
              <a:solidFill>
                <a:srgbClr val="007A77"/>
              </a:solidFill>
            </a:endParaRPr>
          </a:p>
        </p:txBody>
      </p:sp>
      <p:sp>
        <p:nvSpPr>
          <p:cNvPr id="19460" name="Rectangle 2"/>
          <p:cNvSpPr>
            <a:spLocks noGrp="1" noRot="1" noChangeArrowheads="1"/>
          </p:cNvSpPr>
          <p:nvPr>
            <p:ph type="title"/>
          </p:nvPr>
        </p:nvSpPr>
        <p:spPr/>
        <p:txBody>
          <a:bodyPr/>
          <a:lstStyle/>
          <a:p>
            <a:pPr eaLnBrk="1" hangingPunct="1"/>
            <a:r>
              <a:rPr lang="zh-CN" altLang="en-US"/>
              <a:t>管理实践能力最终检验标准：</a:t>
            </a:r>
          </a:p>
        </p:txBody>
      </p:sp>
      <p:sp>
        <p:nvSpPr>
          <p:cNvPr id="19461" name="Rectangle 3"/>
          <p:cNvSpPr>
            <a:spLocks noGrp="1" noRot="1" noChangeArrowheads="1"/>
          </p:cNvSpPr>
          <p:nvPr>
            <p:ph idx="1"/>
          </p:nvPr>
        </p:nvSpPr>
        <p:spPr>
          <a:xfrm>
            <a:off x="301625" y="1905000"/>
            <a:ext cx="8540750" cy="3810000"/>
          </a:xfrm>
        </p:spPr>
        <p:txBody>
          <a:bodyPr/>
          <a:lstStyle/>
          <a:p>
            <a:pPr eaLnBrk="1" hangingPunct="1"/>
            <a:r>
              <a:rPr lang="zh-CN" altLang="en-US"/>
              <a:t>目标实现</a:t>
            </a:r>
          </a:p>
          <a:p>
            <a:pPr eaLnBrk="1" hangingPunct="1"/>
            <a:endParaRPr lang="zh-CN" altLang="en-US"/>
          </a:p>
          <a:p>
            <a:pPr eaLnBrk="1" hangingPunct="1"/>
            <a:r>
              <a:rPr lang="zh-CN" altLang="en-US"/>
              <a:t>满意原则</a:t>
            </a:r>
          </a:p>
        </p:txBody>
      </p:sp>
    </p:spTree>
    <p:extLst>
      <p:ext uri="{BB962C8B-B14F-4D97-AF65-F5344CB8AC3E}">
        <p14:creationId xmlns:p14="http://schemas.microsoft.com/office/powerpoint/2010/main" val="3973916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eaLnBrk="1" hangingPunct="1">
              <a:buFont typeface="Arial" charset="0"/>
              <a:buNone/>
            </a:pPr>
            <a:fld id="{70A1015F-98AD-4AD7-9F84-03B56C9632E4}" type="slidenum">
              <a:rPr lang="zh-CN" altLang="en-US" smtClean="0">
                <a:solidFill>
                  <a:srgbClr val="007A77"/>
                </a:solidFill>
              </a:rPr>
              <a:pPr eaLnBrk="1" hangingPunct="1">
                <a:buFont typeface="Arial" charset="0"/>
                <a:buNone/>
              </a:pPr>
              <a:t>28</a:t>
            </a:fld>
            <a:endParaRPr lang="zh-CN" altLang="en-US">
              <a:solidFill>
                <a:srgbClr val="007A77"/>
              </a:solidFill>
            </a:endParaRPr>
          </a:p>
        </p:txBody>
      </p:sp>
      <p:sp>
        <p:nvSpPr>
          <p:cNvPr id="20484" name="Rectangle 2"/>
          <p:cNvSpPr>
            <a:spLocks noGrp="1" noRot="1" noChangeArrowheads="1"/>
          </p:cNvSpPr>
          <p:nvPr>
            <p:ph type="title"/>
          </p:nvPr>
        </p:nvSpPr>
        <p:spPr/>
        <p:txBody>
          <a:bodyPr/>
          <a:lstStyle/>
          <a:p>
            <a:pPr eaLnBrk="1" hangingPunct="1"/>
            <a:r>
              <a:rPr lang="zh-CN" altLang="en-US"/>
              <a:t>课程考核――选修课 </a:t>
            </a:r>
          </a:p>
        </p:txBody>
      </p:sp>
      <p:sp>
        <p:nvSpPr>
          <p:cNvPr id="20485" name="Rectangle 3"/>
          <p:cNvSpPr>
            <a:spLocks noGrp="1" noRot="1" noChangeArrowheads="1"/>
          </p:cNvSpPr>
          <p:nvPr>
            <p:ph idx="1"/>
          </p:nvPr>
        </p:nvSpPr>
        <p:spPr/>
        <p:txBody>
          <a:bodyPr/>
          <a:lstStyle/>
          <a:p>
            <a:pPr eaLnBrk="1" hangingPunct="1">
              <a:lnSpc>
                <a:spcPct val="80000"/>
              </a:lnSpc>
              <a:buFont typeface="Wingdings" pitchFamily="2" charset="2"/>
              <a:buNone/>
            </a:pPr>
            <a:r>
              <a:rPr lang="zh-CN" altLang="en-US" sz="2800"/>
              <a:t>考核不是目的，只是手段。</a:t>
            </a:r>
          </a:p>
          <a:p>
            <a:pPr eaLnBrk="1" hangingPunct="1">
              <a:lnSpc>
                <a:spcPct val="110000"/>
              </a:lnSpc>
            </a:pPr>
            <a:r>
              <a:rPr lang="zh-CN" altLang="en-US"/>
              <a:t>课程考核：</a:t>
            </a:r>
          </a:p>
          <a:p>
            <a:pPr lvl="1" eaLnBrk="1" hangingPunct="1">
              <a:lnSpc>
                <a:spcPct val="110000"/>
              </a:lnSpc>
              <a:buFont typeface="Wingdings" pitchFamily="2" charset="2"/>
              <a:buChar char="Ø"/>
            </a:pPr>
            <a:r>
              <a:rPr lang="zh-CN" altLang="en-US"/>
              <a:t>课内案例讨论及考勤</a:t>
            </a:r>
            <a:r>
              <a:rPr lang="en-US" altLang="zh-CN"/>
              <a:t>30%</a:t>
            </a:r>
          </a:p>
          <a:p>
            <a:pPr lvl="1" eaLnBrk="1" hangingPunct="1">
              <a:lnSpc>
                <a:spcPct val="110000"/>
              </a:lnSpc>
              <a:buFont typeface="Wingdings" pitchFamily="2" charset="2"/>
              <a:buChar char="Ø"/>
            </a:pPr>
            <a:r>
              <a:rPr lang="zh-CN" altLang="en-US"/>
              <a:t>平时作业</a:t>
            </a:r>
            <a:r>
              <a:rPr lang="en-US" altLang="zh-CN"/>
              <a:t>30%</a:t>
            </a:r>
          </a:p>
          <a:p>
            <a:pPr lvl="1" eaLnBrk="1" hangingPunct="1">
              <a:lnSpc>
                <a:spcPct val="110000"/>
              </a:lnSpc>
              <a:buFont typeface="Wingdings" pitchFamily="2" charset="2"/>
              <a:buChar char="Ø"/>
            </a:pPr>
            <a:r>
              <a:rPr lang="zh-CN" altLang="en-US"/>
              <a:t>期末考试（案例分析题与论述题）</a:t>
            </a:r>
            <a:r>
              <a:rPr lang="en-US" altLang="zh-CN"/>
              <a:t>40%</a:t>
            </a:r>
          </a:p>
          <a:p>
            <a:pPr eaLnBrk="1" hangingPunct="1">
              <a:lnSpc>
                <a:spcPct val="80000"/>
              </a:lnSpc>
              <a:buFont typeface="Wingdings" pitchFamily="2" charset="2"/>
              <a:buNone/>
            </a:pPr>
            <a:r>
              <a:rPr lang="zh-CN" altLang="en-US" sz="2800"/>
              <a:t>    </a:t>
            </a:r>
          </a:p>
          <a:p>
            <a:pPr eaLnBrk="1" hangingPunct="1">
              <a:lnSpc>
                <a:spcPct val="80000"/>
              </a:lnSpc>
              <a:buFont typeface="Wingdings" pitchFamily="2" charset="2"/>
              <a:buNone/>
            </a:pPr>
            <a:r>
              <a:rPr lang="zh-CN" altLang="en-US" sz="2800"/>
              <a:t>    </a:t>
            </a:r>
          </a:p>
        </p:txBody>
      </p:sp>
    </p:spTree>
    <p:extLst>
      <p:ext uri="{BB962C8B-B14F-4D97-AF65-F5344CB8AC3E}">
        <p14:creationId xmlns:p14="http://schemas.microsoft.com/office/powerpoint/2010/main" val="35049874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课外阅读</a:t>
            </a:r>
          </a:p>
        </p:txBody>
      </p:sp>
      <p:sp>
        <p:nvSpPr>
          <p:cNvPr id="3" name="内容占位符 2"/>
          <p:cNvSpPr>
            <a:spLocks noGrp="1"/>
          </p:cNvSpPr>
          <p:nvPr>
            <p:ph idx="1"/>
          </p:nvPr>
        </p:nvSpPr>
        <p:spPr>
          <a:xfrm>
            <a:off x="457200" y="1357298"/>
            <a:ext cx="8229600" cy="4929222"/>
          </a:xfrm>
        </p:spPr>
        <p:txBody>
          <a:bodyPr>
            <a:normAutofit fontScale="92500"/>
          </a:bodyPr>
          <a:lstStyle/>
          <a:p>
            <a:r>
              <a:rPr lang="zh-CN" altLang="en-US" sz="2400" dirty="0"/>
              <a:t>目的：概念、理论积累，方法学习，实践锻炼。</a:t>
            </a:r>
            <a:endParaRPr lang="en-US" altLang="zh-CN" sz="2400" dirty="0"/>
          </a:p>
          <a:p>
            <a:r>
              <a:rPr lang="en-US" altLang="zh-CN" sz="2400" dirty="0"/>
              <a:t>《</a:t>
            </a:r>
            <a:r>
              <a:rPr lang="zh-CN" altLang="en-US" sz="2400" dirty="0"/>
              <a:t>冲突管理</a:t>
            </a:r>
            <a:r>
              <a:rPr lang="en-US" altLang="zh-CN" sz="2400" dirty="0"/>
              <a:t>》</a:t>
            </a:r>
            <a:r>
              <a:rPr lang="zh-CN" altLang="en-US" sz="2400" dirty="0"/>
              <a:t>专门课本的稀少性与多样性，为什么？</a:t>
            </a:r>
            <a:endParaRPr lang="en-US" altLang="zh-CN" sz="2400" dirty="0"/>
          </a:p>
          <a:p>
            <a:pPr>
              <a:buFont typeface="Wingdings" pitchFamily="2" charset="2"/>
              <a:buChar char="Ø"/>
            </a:pPr>
            <a:r>
              <a:rPr lang="zh-CN" altLang="en-US" sz="2600" dirty="0">
                <a:latin typeface="华文宋体" pitchFamily="2" charset="-122"/>
                <a:ea typeface="华文宋体" pitchFamily="2" charset="-122"/>
              </a:rPr>
              <a:t>阿西莫夫 </a:t>
            </a:r>
            <a:r>
              <a:rPr lang="en-US" altLang="zh-CN" sz="2600" dirty="0">
                <a:latin typeface="华文宋体" pitchFamily="2" charset="-122"/>
                <a:ea typeface="华文宋体" pitchFamily="2" charset="-122"/>
              </a:rPr>
              <a:t>《</a:t>
            </a:r>
            <a:r>
              <a:rPr lang="zh-CN" altLang="en-US" sz="2600" dirty="0">
                <a:latin typeface="华文宋体" pitchFamily="2" charset="-122"/>
                <a:ea typeface="华文宋体" pitchFamily="2" charset="-122"/>
              </a:rPr>
              <a:t>基地</a:t>
            </a:r>
            <a:r>
              <a:rPr lang="en-US" altLang="zh-CN" sz="2600" dirty="0">
                <a:latin typeface="华文宋体" pitchFamily="2" charset="-122"/>
                <a:ea typeface="华文宋体" pitchFamily="2" charset="-122"/>
              </a:rPr>
              <a:t>》</a:t>
            </a:r>
            <a:r>
              <a:rPr lang="zh-CN" altLang="en-US" sz="2600" dirty="0">
                <a:latin typeface="华文宋体" pitchFamily="2" charset="-122"/>
                <a:ea typeface="华文宋体" pitchFamily="2" charset="-122"/>
              </a:rPr>
              <a:t>（银河帝国 第一部）</a:t>
            </a:r>
            <a:endParaRPr lang="en-US" altLang="zh-CN" sz="2600" dirty="0">
              <a:latin typeface="华文宋体" pitchFamily="2" charset="-122"/>
              <a:ea typeface="华文宋体" pitchFamily="2" charset="-122"/>
            </a:endParaRPr>
          </a:p>
          <a:p>
            <a:pPr>
              <a:buFont typeface="Wingdings" pitchFamily="2" charset="2"/>
              <a:buChar char="Ø"/>
            </a:pPr>
            <a:r>
              <a:rPr lang="zh-CN" altLang="en-US" sz="2600" dirty="0">
                <a:latin typeface="华文宋体" pitchFamily="2" charset="-122"/>
                <a:ea typeface="华文宋体" pitchFamily="2" charset="-122"/>
              </a:rPr>
              <a:t>贾雷德  戴蒙德</a:t>
            </a:r>
            <a:r>
              <a:rPr lang="en-US" altLang="zh-CN" sz="2600" dirty="0">
                <a:latin typeface="华文宋体" pitchFamily="2" charset="-122"/>
                <a:ea typeface="华文宋体" pitchFamily="2" charset="-122"/>
              </a:rPr>
              <a:t>《</a:t>
            </a:r>
            <a:r>
              <a:rPr lang="zh-CN" altLang="en-US" sz="2600" dirty="0">
                <a:latin typeface="华文宋体" pitchFamily="2" charset="-122"/>
                <a:ea typeface="华文宋体" pitchFamily="2" charset="-122"/>
              </a:rPr>
              <a:t>第三种黑猩猩</a:t>
            </a:r>
            <a:r>
              <a:rPr lang="en-US" altLang="zh-CN" sz="2600" dirty="0">
                <a:latin typeface="华文宋体" pitchFamily="2" charset="-122"/>
                <a:ea typeface="华文宋体" pitchFamily="2" charset="-122"/>
              </a:rPr>
              <a:t>》 2015</a:t>
            </a:r>
            <a:r>
              <a:rPr lang="zh-CN" altLang="en-US" sz="2600" dirty="0">
                <a:latin typeface="华文宋体" pitchFamily="2" charset="-122"/>
                <a:ea typeface="华文宋体" pitchFamily="2" charset="-122"/>
              </a:rPr>
              <a:t>年</a:t>
            </a:r>
            <a:endParaRPr lang="en-US" altLang="zh-CN" sz="2600" dirty="0">
              <a:latin typeface="华文宋体" pitchFamily="2" charset="-122"/>
              <a:ea typeface="华文宋体" pitchFamily="2" charset="-122"/>
            </a:endParaRPr>
          </a:p>
          <a:p>
            <a:pPr>
              <a:buFont typeface="Wingdings" pitchFamily="2" charset="2"/>
              <a:buChar char="Ø"/>
            </a:pPr>
            <a:r>
              <a:rPr lang="zh-CN" altLang="en-US" sz="2600" dirty="0">
                <a:latin typeface="华文宋体" pitchFamily="2" charset="-122"/>
                <a:ea typeface="华文宋体" pitchFamily="2" charset="-122"/>
              </a:rPr>
              <a:t>罗洛 梅</a:t>
            </a:r>
            <a:r>
              <a:rPr lang="en-US" altLang="zh-CN" sz="2600" dirty="0">
                <a:latin typeface="华文宋体" pitchFamily="2" charset="-122"/>
                <a:ea typeface="华文宋体" pitchFamily="2" charset="-122"/>
              </a:rPr>
              <a:t>《</a:t>
            </a:r>
            <a:r>
              <a:rPr lang="zh-CN" altLang="en-US" sz="2600" dirty="0">
                <a:latin typeface="华文宋体" pitchFamily="2" charset="-122"/>
                <a:ea typeface="华文宋体" pitchFamily="2" charset="-122"/>
              </a:rPr>
              <a:t>人的自我寻求</a:t>
            </a:r>
            <a:r>
              <a:rPr lang="en-US" altLang="zh-CN" sz="2600" dirty="0">
                <a:latin typeface="华文宋体" pitchFamily="2" charset="-122"/>
                <a:ea typeface="华文宋体" pitchFamily="2" charset="-122"/>
              </a:rPr>
              <a:t>》</a:t>
            </a:r>
          </a:p>
          <a:p>
            <a:pPr>
              <a:buFont typeface="Wingdings" pitchFamily="2" charset="2"/>
              <a:buChar char="Ø"/>
            </a:pPr>
            <a:r>
              <a:rPr lang="zh-CN" altLang="en-US" sz="2600" dirty="0">
                <a:latin typeface="华文宋体" pitchFamily="2" charset="-122"/>
                <a:ea typeface="华文宋体" pitchFamily="2" charset="-122"/>
              </a:rPr>
              <a:t>鲁思</a:t>
            </a:r>
            <a:r>
              <a:rPr lang="en-US" altLang="zh-CN" sz="2600" dirty="0">
                <a:latin typeface="华文宋体" pitchFamily="2" charset="-122"/>
                <a:ea typeface="华文宋体" pitchFamily="2" charset="-122"/>
              </a:rPr>
              <a:t>·</a:t>
            </a:r>
            <a:r>
              <a:rPr lang="zh-CN" altLang="en-US" sz="2600" dirty="0">
                <a:latin typeface="华文宋体" pitchFamily="2" charset="-122"/>
                <a:ea typeface="华文宋体" pitchFamily="2" charset="-122"/>
              </a:rPr>
              <a:t>安娜</a:t>
            </a:r>
            <a:r>
              <a:rPr lang="en-US" altLang="zh-CN" sz="2600" dirty="0">
                <a:latin typeface="华文宋体" pitchFamily="2" charset="-122"/>
                <a:ea typeface="华文宋体" pitchFamily="2" charset="-122"/>
              </a:rPr>
              <a:t>·</a:t>
            </a:r>
            <a:r>
              <a:rPr lang="zh-CN" altLang="en-US" sz="2600" dirty="0">
                <a:latin typeface="华文宋体" pitchFamily="2" charset="-122"/>
                <a:ea typeface="华文宋体" pitchFamily="2" charset="-122"/>
              </a:rPr>
              <a:t>核心冲突</a:t>
            </a:r>
            <a:r>
              <a:rPr lang="en-US" altLang="zh-CN" sz="2600" dirty="0">
                <a:latin typeface="华文宋体" pitchFamily="2" charset="-122"/>
                <a:ea typeface="华文宋体" pitchFamily="2" charset="-122"/>
              </a:rPr>
              <a:t>:</a:t>
            </a:r>
            <a:r>
              <a:rPr lang="zh-CN" altLang="en-US" sz="2600" dirty="0">
                <a:latin typeface="华文宋体" pitchFamily="2" charset="-122"/>
                <a:ea typeface="华文宋体" pitchFamily="2" charset="-122"/>
              </a:rPr>
              <a:t>化社交危机为共赢契机的冲突管理 人民邮电出版社 </a:t>
            </a:r>
            <a:r>
              <a:rPr lang="en-US" altLang="zh-CN" sz="2600" dirty="0">
                <a:latin typeface="华文宋体" pitchFamily="2" charset="-122"/>
                <a:ea typeface="华文宋体" pitchFamily="2" charset="-122"/>
              </a:rPr>
              <a:t>2013</a:t>
            </a:r>
            <a:r>
              <a:rPr lang="zh-CN" altLang="en-US" sz="2600" dirty="0">
                <a:latin typeface="华文宋体" pitchFamily="2" charset="-122"/>
                <a:ea typeface="华文宋体" pitchFamily="2" charset="-122"/>
              </a:rPr>
              <a:t>年</a:t>
            </a:r>
            <a:r>
              <a:rPr lang="en-US" altLang="zh-CN" sz="2600" dirty="0">
                <a:latin typeface="华文宋体" pitchFamily="2" charset="-122"/>
                <a:ea typeface="华文宋体" pitchFamily="2" charset="-122"/>
              </a:rPr>
              <a:t>  </a:t>
            </a:r>
          </a:p>
          <a:p>
            <a:pPr>
              <a:buFont typeface="Wingdings" pitchFamily="2" charset="2"/>
              <a:buChar char="Ø"/>
            </a:pPr>
            <a:r>
              <a:rPr lang="zh-CN" altLang="en-US" sz="2600" dirty="0">
                <a:latin typeface="华文宋体" pitchFamily="2" charset="-122"/>
                <a:ea typeface="华文宋体" pitchFamily="2" charset="-122"/>
              </a:rPr>
              <a:t>理查德 道金斯</a:t>
            </a:r>
            <a:r>
              <a:rPr lang="en-US" altLang="zh-CN" sz="2600" dirty="0">
                <a:latin typeface="华文宋体" pitchFamily="2" charset="-122"/>
                <a:ea typeface="华文宋体" pitchFamily="2" charset="-122"/>
              </a:rPr>
              <a:t>《</a:t>
            </a:r>
            <a:r>
              <a:rPr lang="zh-CN" altLang="en-US" sz="2600" dirty="0">
                <a:latin typeface="华文宋体" pitchFamily="2" charset="-122"/>
                <a:ea typeface="华文宋体" pitchFamily="2" charset="-122"/>
              </a:rPr>
              <a:t>自私的基因</a:t>
            </a:r>
            <a:r>
              <a:rPr lang="en-US" altLang="zh-CN" sz="2600" dirty="0">
                <a:latin typeface="华文宋体" pitchFamily="2" charset="-122"/>
                <a:ea typeface="华文宋体" pitchFamily="2" charset="-122"/>
              </a:rPr>
              <a:t>》</a:t>
            </a:r>
            <a:r>
              <a:rPr lang="zh-CN" altLang="en-US" sz="2600" dirty="0">
                <a:latin typeface="华文宋体" pitchFamily="2" charset="-122"/>
                <a:ea typeface="华文宋体" pitchFamily="2" charset="-122"/>
              </a:rPr>
              <a:t>第五、十章；</a:t>
            </a:r>
            <a:endParaRPr lang="en-US" altLang="zh-CN" sz="2600" dirty="0">
              <a:latin typeface="华文宋体" pitchFamily="2" charset="-122"/>
              <a:ea typeface="华文宋体" pitchFamily="2" charset="-122"/>
            </a:endParaRPr>
          </a:p>
          <a:p>
            <a:pPr>
              <a:buFont typeface="Wingdings" pitchFamily="2" charset="2"/>
              <a:buChar char="Ø"/>
            </a:pPr>
            <a:r>
              <a:rPr lang="zh-CN" altLang="en-US" sz="2600" dirty="0">
                <a:latin typeface="华文宋体" pitchFamily="2" charset="-122"/>
                <a:ea typeface="华文宋体" pitchFamily="2" charset="-122"/>
              </a:rPr>
              <a:t>科塞 </a:t>
            </a:r>
            <a:r>
              <a:rPr lang="en-US" altLang="zh-CN" sz="2600" dirty="0">
                <a:latin typeface="华文宋体" pitchFamily="2" charset="-122"/>
                <a:ea typeface="华文宋体" pitchFamily="2" charset="-122"/>
              </a:rPr>
              <a:t>《</a:t>
            </a:r>
            <a:r>
              <a:rPr lang="zh-CN" altLang="en-US" sz="2600" dirty="0">
                <a:latin typeface="华文宋体" pitchFamily="2" charset="-122"/>
                <a:ea typeface="华文宋体" pitchFamily="2" charset="-122"/>
              </a:rPr>
              <a:t>社会冲突的功能</a:t>
            </a:r>
            <a:r>
              <a:rPr lang="en-US" altLang="zh-CN" sz="2600" dirty="0">
                <a:latin typeface="华文宋体" pitchFamily="2" charset="-122"/>
                <a:ea typeface="华文宋体" pitchFamily="2" charset="-122"/>
              </a:rPr>
              <a:t>》</a:t>
            </a:r>
          </a:p>
          <a:p>
            <a:pPr>
              <a:buFont typeface="Wingdings" pitchFamily="2" charset="2"/>
              <a:buChar char="Ø"/>
            </a:pPr>
            <a:r>
              <a:rPr lang="zh-CN" altLang="en-US" sz="2600" dirty="0">
                <a:latin typeface="华文宋体" pitchFamily="2" charset="-122"/>
                <a:ea typeface="华文宋体" pitchFamily="2" charset="-122"/>
              </a:rPr>
              <a:t>卡伦 霍尼</a:t>
            </a:r>
            <a:r>
              <a:rPr lang="en-US" altLang="zh-CN" sz="2600" dirty="0">
                <a:latin typeface="华文宋体" pitchFamily="2" charset="-122"/>
                <a:ea typeface="华文宋体" pitchFamily="2" charset="-122"/>
              </a:rPr>
              <a:t>《</a:t>
            </a:r>
            <a:r>
              <a:rPr lang="zh-CN" altLang="en-US" sz="2600" dirty="0">
                <a:latin typeface="华文宋体" pitchFamily="2" charset="-122"/>
                <a:ea typeface="华文宋体" pitchFamily="2" charset="-122"/>
              </a:rPr>
              <a:t>我们内心的冲突</a:t>
            </a:r>
            <a:r>
              <a:rPr lang="en-US" altLang="zh-CN" sz="2600" dirty="0">
                <a:latin typeface="华文宋体" pitchFamily="2" charset="-122"/>
                <a:ea typeface="华文宋体" pitchFamily="2" charset="-122"/>
              </a:rPr>
              <a:t>》</a:t>
            </a:r>
            <a:endParaRPr lang="zh-CN" altLang="en-US" sz="2600" dirty="0">
              <a:latin typeface="华文宋体" pitchFamily="2" charset="-122"/>
              <a:ea typeface="华文宋体" pitchFamily="2" charset="-122"/>
            </a:endParaRPr>
          </a:p>
          <a:p>
            <a:pPr>
              <a:buFont typeface="Wingdings" pitchFamily="2" charset="2"/>
              <a:buChar char="Ø"/>
            </a:pPr>
            <a:r>
              <a:rPr lang="zh-CN" altLang="en-US" sz="2600" dirty="0">
                <a:latin typeface="华文宋体" pitchFamily="2" charset="-122"/>
                <a:ea typeface="华文宋体" pitchFamily="2" charset="-122"/>
              </a:rPr>
              <a:t>图书馆数据库：管理学、心理学核心期刊（</a:t>
            </a:r>
            <a:r>
              <a:rPr lang="en-US" altLang="zh-CN" sz="2600" dirty="0">
                <a:latin typeface="华文宋体" pitchFamily="2" charset="-122"/>
                <a:ea typeface="华文宋体" pitchFamily="2" charset="-122"/>
              </a:rPr>
              <a:t>CSSCI</a:t>
            </a:r>
            <a:r>
              <a:rPr lang="zh-CN" altLang="en-US" sz="2600" dirty="0">
                <a:latin typeface="华文宋体" pitchFamily="2" charset="-122"/>
                <a:ea typeface="华文宋体" pitchFamily="2" charset="-122"/>
              </a:rPr>
              <a:t>）</a:t>
            </a:r>
            <a:r>
              <a:rPr lang="en-US" altLang="zh-CN" sz="2600" dirty="0">
                <a:latin typeface="华文宋体" pitchFamily="2" charset="-122"/>
                <a:ea typeface="华文宋体" pitchFamily="2" charset="-122"/>
              </a:rPr>
              <a:t>,</a:t>
            </a:r>
            <a:r>
              <a:rPr lang="zh-CN" altLang="en-US" sz="2600" dirty="0">
                <a:latin typeface="华文宋体" pitchFamily="2" charset="-122"/>
                <a:ea typeface="华文宋体" pitchFamily="2" charset="-122"/>
              </a:rPr>
              <a:t>等等。</a:t>
            </a:r>
            <a:endParaRPr lang="en-US" altLang="zh-CN" sz="2600" dirty="0">
              <a:latin typeface="华文宋体" pitchFamily="2" charset="-122"/>
              <a:ea typeface="华文宋体"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t>小组实践作业</a:t>
            </a:r>
          </a:p>
        </p:txBody>
      </p:sp>
      <p:sp>
        <p:nvSpPr>
          <p:cNvPr id="3" name="内容占位符 2"/>
          <p:cNvSpPr>
            <a:spLocks noGrp="1"/>
          </p:cNvSpPr>
          <p:nvPr>
            <p:ph idx="1"/>
          </p:nvPr>
        </p:nvSpPr>
        <p:spPr>
          <a:xfrm>
            <a:off x="457200" y="1357298"/>
            <a:ext cx="8229600" cy="4929222"/>
          </a:xfrm>
        </p:spPr>
        <p:txBody>
          <a:bodyPr>
            <a:normAutofit fontScale="92500" lnSpcReduction="10000"/>
          </a:bodyPr>
          <a:lstStyle/>
          <a:p>
            <a:pPr marL="0" indent="0">
              <a:buNone/>
            </a:pPr>
            <a:r>
              <a:rPr lang="zh-CN" altLang="en-US" sz="2600" dirty="0">
                <a:latin typeface="华文宋体" pitchFamily="2" charset="-122"/>
                <a:ea typeface="华文宋体" pitchFamily="2" charset="-122"/>
              </a:rPr>
              <a:t>阅读并分析讨论：</a:t>
            </a:r>
            <a:endParaRPr lang="en-US" altLang="zh-CN" sz="2600" dirty="0">
              <a:latin typeface="华文宋体" pitchFamily="2" charset="-122"/>
              <a:ea typeface="华文宋体" pitchFamily="2" charset="-122"/>
            </a:endParaRPr>
          </a:p>
          <a:p>
            <a:pPr marL="0" indent="0">
              <a:buNone/>
            </a:pPr>
            <a:r>
              <a:rPr lang="zh-CN" altLang="en-US" sz="2000" dirty="0">
                <a:latin typeface="华文宋体" pitchFamily="2" charset="-122"/>
                <a:ea typeface="华文宋体" pitchFamily="2" charset="-122"/>
              </a:rPr>
              <a:t>阿西莫夫 </a:t>
            </a:r>
            <a:r>
              <a:rPr lang="en-US" altLang="zh-CN" sz="2000" dirty="0">
                <a:latin typeface="华文宋体" pitchFamily="2" charset="-122"/>
                <a:ea typeface="华文宋体" pitchFamily="2" charset="-122"/>
              </a:rPr>
              <a:t>《</a:t>
            </a:r>
            <a:r>
              <a:rPr lang="zh-CN" altLang="en-US" sz="2000" dirty="0">
                <a:latin typeface="华文宋体" pitchFamily="2" charset="-122"/>
                <a:ea typeface="华文宋体" pitchFamily="2" charset="-122"/>
              </a:rPr>
              <a:t>基地</a:t>
            </a:r>
            <a:r>
              <a:rPr lang="en-US" altLang="zh-CN" sz="2000" dirty="0">
                <a:latin typeface="华文宋体" pitchFamily="2" charset="-122"/>
                <a:ea typeface="华文宋体" pitchFamily="2" charset="-122"/>
              </a:rPr>
              <a:t>》</a:t>
            </a:r>
            <a:r>
              <a:rPr lang="zh-CN" altLang="en-US" sz="2000" dirty="0">
                <a:latin typeface="华文宋体" pitchFamily="2" charset="-122"/>
                <a:ea typeface="华文宋体" pitchFamily="2" charset="-122"/>
              </a:rPr>
              <a:t>（银河帝国 第一部）中，有不少重要的冲突事件：</a:t>
            </a:r>
            <a:r>
              <a:rPr lang="en-US" altLang="zh-CN" sz="2000" dirty="0">
                <a:latin typeface="华文宋体" pitchFamily="2" charset="-122"/>
                <a:ea typeface="华文宋体" pitchFamily="2" charset="-122"/>
              </a:rPr>
              <a:t>1</a:t>
            </a:r>
            <a:r>
              <a:rPr lang="zh-CN" altLang="en-US" sz="2000" dirty="0">
                <a:latin typeface="华文宋体" pitchFamily="2" charset="-122"/>
                <a:ea typeface="华文宋体" pitchFamily="2" charset="-122"/>
              </a:rPr>
              <a:t>）十万人移居川陀星（不用做）；</a:t>
            </a:r>
            <a:r>
              <a:rPr lang="en-US" altLang="zh-CN" sz="2000" dirty="0">
                <a:latin typeface="华文宋体" pitchFamily="2" charset="-122"/>
                <a:ea typeface="华文宋体" pitchFamily="2" charset="-122"/>
              </a:rPr>
              <a:t>2</a:t>
            </a:r>
            <a:r>
              <a:rPr lang="zh-CN" altLang="en-US" sz="2000" dirty="0">
                <a:latin typeface="华文宋体" pitchFamily="2" charset="-122"/>
                <a:ea typeface="华文宋体" pitchFamily="2" charset="-122"/>
              </a:rPr>
              <a:t>）安星侵略川陀星；</a:t>
            </a:r>
            <a:r>
              <a:rPr lang="en-US" altLang="zh-CN" sz="2000" dirty="0">
                <a:latin typeface="华文宋体" pitchFamily="2" charset="-122"/>
                <a:ea typeface="华文宋体" pitchFamily="2" charset="-122"/>
              </a:rPr>
              <a:t>3</a:t>
            </a:r>
            <a:r>
              <a:rPr lang="zh-CN" altLang="en-US" sz="2000" dirty="0">
                <a:latin typeface="华文宋体" pitchFamily="2" charset="-122"/>
                <a:ea typeface="华文宋体" pitchFamily="2" charset="-122"/>
              </a:rPr>
              <a:t>）基地反击安星；</a:t>
            </a:r>
            <a:r>
              <a:rPr lang="en-US" altLang="zh-CN" sz="2000" dirty="0">
                <a:latin typeface="华文宋体" pitchFamily="2" charset="-122"/>
                <a:ea typeface="华文宋体" pitchFamily="2" charset="-122"/>
              </a:rPr>
              <a:t>4</a:t>
            </a:r>
            <a:r>
              <a:rPr lang="zh-CN" altLang="en-US" sz="2000" dirty="0">
                <a:latin typeface="华文宋体" pitchFamily="2" charset="-122"/>
                <a:ea typeface="华文宋体" pitchFamily="2" charset="-122"/>
              </a:rPr>
              <a:t>）行商与科瑞尔业务中传教士登船；</a:t>
            </a:r>
            <a:r>
              <a:rPr lang="en-US" altLang="zh-CN" sz="2000" dirty="0">
                <a:latin typeface="华文宋体" pitchFamily="2" charset="-122"/>
                <a:ea typeface="华文宋体" pitchFamily="2" charset="-122"/>
              </a:rPr>
              <a:t>5</a:t>
            </a:r>
            <a:r>
              <a:rPr lang="zh-CN" altLang="en-US" sz="2000" dirty="0">
                <a:latin typeface="华文宋体" pitchFamily="2" charset="-122"/>
                <a:ea typeface="华文宋体" pitchFamily="2" charset="-122"/>
              </a:rPr>
              <a:t>）科瑞尔星与川陀基地星间的战争冲突，等等。</a:t>
            </a:r>
            <a:endParaRPr lang="en-US" altLang="zh-CN" sz="2000" dirty="0">
              <a:latin typeface="华文宋体" pitchFamily="2" charset="-122"/>
              <a:ea typeface="华文宋体" pitchFamily="2" charset="-122"/>
            </a:endParaRPr>
          </a:p>
          <a:p>
            <a:pPr marL="0" indent="0">
              <a:buNone/>
            </a:pPr>
            <a:r>
              <a:rPr lang="zh-CN" altLang="en-US" sz="2000" dirty="0">
                <a:latin typeface="华文宋体" pitchFamily="2" charset="-122"/>
                <a:ea typeface="华文宋体" pitchFamily="2" charset="-122"/>
              </a:rPr>
              <a:t>书中每次冲突的处理都非常有高度和深度，理解这些冲突管理的思想令人兴奋。</a:t>
            </a:r>
            <a:endParaRPr lang="en-US" altLang="zh-CN" sz="2000" dirty="0">
              <a:latin typeface="华文宋体" pitchFamily="2" charset="-122"/>
              <a:ea typeface="华文宋体" pitchFamily="2" charset="-122"/>
            </a:endParaRPr>
          </a:p>
          <a:p>
            <a:pPr>
              <a:buFont typeface="Wingdings" pitchFamily="2" charset="2"/>
              <a:buChar char="Ø"/>
            </a:pPr>
            <a:r>
              <a:rPr lang="zh-CN" altLang="en-US" sz="2000" dirty="0">
                <a:latin typeface="华文宋体" pitchFamily="2" charset="-122"/>
                <a:ea typeface="华文宋体" pitchFamily="2" charset="-122"/>
              </a:rPr>
              <a:t>小组读书作业：</a:t>
            </a:r>
            <a:endParaRPr lang="en-US" altLang="zh-CN" sz="2000" dirty="0">
              <a:latin typeface="华文宋体" pitchFamily="2" charset="-122"/>
              <a:ea typeface="华文宋体" pitchFamily="2" charset="-122"/>
            </a:endParaRPr>
          </a:p>
          <a:p>
            <a:pPr marL="0" indent="0">
              <a:buNone/>
            </a:pPr>
            <a:r>
              <a:rPr lang="zh-CN" altLang="en-US" sz="2000" dirty="0">
                <a:latin typeface="华文宋体" pitchFamily="2" charset="-122"/>
                <a:ea typeface="华文宋体" pitchFamily="2" charset="-122"/>
              </a:rPr>
              <a:t>自动组成</a:t>
            </a:r>
            <a:r>
              <a:rPr lang="en-US" altLang="zh-CN" sz="2000" dirty="0">
                <a:latin typeface="华文宋体" pitchFamily="2" charset="-122"/>
                <a:ea typeface="华文宋体" pitchFamily="2" charset="-122"/>
              </a:rPr>
              <a:t>3-5</a:t>
            </a:r>
            <a:r>
              <a:rPr lang="zh-CN" altLang="en-US" sz="2000" dirty="0">
                <a:latin typeface="华文宋体" pitchFamily="2" charset="-122"/>
                <a:ea typeface="华文宋体" pitchFamily="2" charset="-122"/>
              </a:rPr>
              <a:t>人读书小组阅读本书，并就其中的某一次冲突进行分析讨论，并把结果提交</a:t>
            </a:r>
            <a:r>
              <a:rPr lang="en-US" altLang="zh-CN" sz="2000" dirty="0">
                <a:latin typeface="华文宋体" pitchFamily="2" charset="-122"/>
                <a:ea typeface="华文宋体" pitchFamily="2" charset="-122"/>
              </a:rPr>
              <a:t>PPT</a:t>
            </a:r>
            <a:r>
              <a:rPr lang="zh-CN" altLang="en-US" sz="2000" dirty="0">
                <a:latin typeface="华文宋体" pitchFamily="2" charset="-122"/>
                <a:ea typeface="华文宋体" pitchFamily="2" charset="-122"/>
              </a:rPr>
              <a:t>。</a:t>
            </a:r>
            <a:endParaRPr lang="en-US" altLang="zh-CN" sz="2000" dirty="0">
              <a:latin typeface="华文宋体" pitchFamily="2" charset="-122"/>
              <a:ea typeface="华文宋体" pitchFamily="2" charset="-122"/>
            </a:endParaRPr>
          </a:p>
          <a:p>
            <a:pPr>
              <a:buFont typeface="Wingdings" pitchFamily="2" charset="2"/>
              <a:buChar char="Ø"/>
            </a:pPr>
            <a:r>
              <a:rPr lang="zh-CN" altLang="en-US" sz="2000" dirty="0">
                <a:latin typeface="华文宋体" pitchFamily="2" charset="-122"/>
                <a:ea typeface="华文宋体" pitchFamily="2" charset="-122"/>
              </a:rPr>
              <a:t>思考讨论方法：管理元方法、科学元方法</a:t>
            </a:r>
            <a:endParaRPr lang="en-US" altLang="zh-CN" sz="2000" dirty="0">
              <a:latin typeface="华文宋体" pitchFamily="2" charset="-122"/>
              <a:ea typeface="华文宋体" pitchFamily="2" charset="-122"/>
            </a:endParaRPr>
          </a:p>
          <a:p>
            <a:pPr marL="0" indent="0">
              <a:buNone/>
            </a:pPr>
            <a:r>
              <a:rPr lang="en-US" altLang="zh-CN" sz="2000" dirty="0">
                <a:latin typeface="华文宋体" pitchFamily="2" charset="-122"/>
                <a:ea typeface="华文宋体" pitchFamily="2" charset="-122"/>
              </a:rPr>
              <a:t>1</a:t>
            </a:r>
            <a:r>
              <a:rPr lang="zh-CN" altLang="en-US" sz="1800" dirty="0">
                <a:latin typeface="华文宋体" pitchFamily="2" charset="-122"/>
                <a:ea typeface="华文宋体" pitchFamily="2" charset="-122"/>
              </a:rPr>
              <a:t>）界定事件性质：这是一个什么事件，事件中双方地位、资源、实力等状态如何，基地方如何设定目标，如何实现自己的目标</a:t>
            </a:r>
            <a:endParaRPr lang="en-US" altLang="zh-CN" sz="1800" dirty="0">
              <a:latin typeface="华文宋体" pitchFamily="2" charset="-122"/>
              <a:ea typeface="华文宋体" pitchFamily="2" charset="-122"/>
            </a:endParaRPr>
          </a:p>
          <a:p>
            <a:pPr marL="0" indent="0">
              <a:buNone/>
            </a:pPr>
            <a:r>
              <a:rPr lang="en-US" altLang="zh-CN" sz="1800" dirty="0">
                <a:latin typeface="华文宋体" pitchFamily="2" charset="-122"/>
                <a:ea typeface="华文宋体" pitchFamily="2" charset="-122"/>
              </a:rPr>
              <a:t>2</a:t>
            </a:r>
            <a:r>
              <a:rPr lang="zh-CN" altLang="en-US" sz="1800" dirty="0">
                <a:latin typeface="华文宋体" pitchFamily="2" charset="-122"/>
                <a:ea typeface="华文宋体" pitchFamily="2" charset="-122"/>
              </a:rPr>
              <a:t>）分析过程中的目标特征、长短期性、分析认知高度、节奏与阶段性，及其过程中的不易与煎熬（动态性与坚定等等）。</a:t>
            </a:r>
            <a:endParaRPr lang="en-US" altLang="zh-CN" sz="1800" dirty="0">
              <a:latin typeface="华文宋体" pitchFamily="2" charset="-122"/>
              <a:ea typeface="华文宋体" pitchFamily="2" charset="-122"/>
            </a:endParaRPr>
          </a:p>
          <a:p>
            <a:pPr>
              <a:buFont typeface="Wingdings" pitchFamily="2" charset="2"/>
              <a:buChar char="Ø"/>
            </a:pPr>
            <a:r>
              <a:rPr lang="zh-CN" altLang="en-US" sz="1800" dirty="0">
                <a:latin typeface="华文宋体" pitchFamily="2" charset="-122"/>
                <a:ea typeface="华文宋体" pitchFamily="2" charset="-122"/>
              </a:rPr>
              <a:t>作业完成时间：</a:t>
            </a:r>
            <a:r>
              <a:rPr lang="en-US" altLang="zh-CN" sz="1800" dirty="0">
                <a:latin typeface="华文宋体" pitchFamily="2" charset="-122"/>
                <a:ea typeface="华文宋体" pitchFamily="2" charset="-122"/>
              </a:rPr>
              <a:t>10.12</a:t>
            </a:r>
            <a:r>
              <a:rPr lang="zh-CN" altLang="en-US" sz="1800" dirty="0">
                <a:latin typeface="华文宋体" pitchFamily="2" charset="-122"/>
                <a:ea typeface="华文宋体" pitchFamily="2" charset="-122"/>
              </a:rPr>
              <a:t>日上交，并安排小组上台演讲本组讨论结果</a:t>
            </a:r>
            <a:r>
              <a:rPr lang="en-US" altLang="zh-CN" sz="1800" dirty="0">
                <a:latin typeface="华文宋体" pitchFamily="2" charset="-122"/>
                <a:ea typeface="华文宋体" pitchFamily="2" charset="-122"/>
              </a:rPr>
              <a:t>PPT</a:t>
            </a:r>
            <a:r>
              <a:rPr lang="zh-CN" altLang="en-US" sz="1800" dirty="0">
                <a:latin typeface="华文宋体" pitchFamily="2" charset="-122"/>
                <a:ea typeface="华文宋体" pitchFamily="2" charset="-122"/>
              </a:rPr>
              <a:t>。</a:t>
            </a:r>
            <a:endParaRPr lang="en-US" altLang="zh-CN" sz="1800" dirty="0">
              <a:latin typeface="华文宋体" pitchFamily="2" charset="-122"/>
              <a:ea typeface="华文宋体"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srgbClr val="2F2F2F">
                    <a:lumMod val="75000"/>
                    <a:lumOff val="25000"/>
                  </a:srgbClr>
                </a:solidFill>
              </a:rPr>
              <a:pPr/>
              <a:t>30</a:t>
            </a:fld>
            <a:endParaRPr lang="zh-CN" altLang="en-US">
              <a:solidFill>
                <a:srgbClr val="2F2F2F">
                  <a:lumMod val="75000"/>
                  <a:lumOff val="25000"/>
                </a:srgbClr>
              </a:solidFill>
            </a:endParaRPr>
          </a:p>
        </p:txBody>
      </p:sp>
    </p:spTree>
    <p:extLst>
      <p:ext uri="{BB962C8B-B14F-4D97-AF65-F5344CB8AC3E}">
        <p14:creationId xmlns:p14="http://schemas.microsoft.com/office/powerpoint/2010/main" val="3124714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D5706D-4F5A-4AF3-BE14-2148AF148969}"/>
              </a:ext>
            </a:extLst>
          </p:cNvPr>
          <p:cNvSpPr>
            <a:spLocks noGrp="1"/>
          </p:cNvSpPr>
          <p:nvPr>
            <p:ph type="title"/>
          </p:nvPr>
        </p:nvSpPr>
        <p:spPr/>
        <p:txBody>
          <a:bodyPr>
            <a:normAutofit/>
          </a:bodyPr>
          <a:lstStyle/>
          <a:p>
            <a:pPr>
              <a:defRPr/>
            </a:pPr>
            <a:r>
              <a:rPr lang="zh-CN" altLang="en-US" sz="3200" dirty="0">
                <a:latin typeface="仿宋" panose="02010609060101010101" pitchFamily="49" charset="-122"/>
                <a:ea typeface="仿宋" panose="02010609060101010101" pitchFamily="49" charset="-122"/>
              </a:rPr>
              <a:t>课外作业一</a:t>
            </a:r>
          </a:p>
        </p:txBody>
      </p:sp>
      <p:sp>
        <p:nvSpPr>
          <p:cNvPr id="3" name="内容占位符 2">
            <a:extLst>
              <a:ext uri="{FF2B5EF4-FFF2-40B4-BE49-F238E27FC236}">
                <a16:creationId xmlns:a16="http://schemas.microsoft.com/office/drawing/2014/main" id="{DEEE3728-6824-4117-91D5-3FB53E34D608}"/>
              </a:ext>
            </a:extLst>
          </p:cNvPr>
          <p:cNvSpPr>
            <a:spLocks noGrp="1"/>
          </p:cNvSpPr>
          <p:nvPr>
            <p:ph idx="1"/>
          </p:nvPr>
        </p:nvSpPr>
        <p:spPr>
          <a:xfrm>
            <a:off x="611188" y="1341438"/>
            <a:ext cx="8229600" cy="4818062"/>
          </a:xfrm>
        </p:spPr>
        <p:txBody>
          <a:bodyPr>
            <a:normAutofit/>
          </a:bodyPr>
          <a:lstStyle/>
          <a:p>
            <a:pPr marL="0" indent="0">
              <a:spcBef>
                <a:spcPct val="0"/>
              </a:spcBef>
              <a:buNone/>
              <a:defRPr/>
            </a:pPr>
            <a:r>
              <a:rPr lang="en-US" altLang="zh-CN" dirty="0">
                <a:solidFill>
                  <a:schemeClr val="tx2"/>
                </a:solidFill>
                <a:latin typeface="仿宋" panose="02010609060101010101" pitchFamily="49" charset="-122"/>
                <a:ea typeface="仿宋" panose="02010609060101010101" pitchFamily="49" charset="-122"/>
                <a:cs typeface="+mj-cs"/>
              </a:rPr>
              <a:t>1</a:t>
            </a:r>
            <a:r>
              <a:rPr lang="zh-CN" altLang="en-US" dirty="0">
                <a:solidFill>
                  <a:schemeClr val="tx2"/>
                </a:solidFill>
                <a:latin typeface="仿宋" panose="02010609060101010101" pitchFamily="49" charset="-122"/>
                <a:ea typeface="仿宋" panose="02010609060101010101" pitchFamily="49" charset="-122"/>
                <a:cs typeface="+mj-cs"/>
              </a:rPr>
              <a:t>、说明本课程的内容结构是什么，你觉得这种内容结构的课程合理吗？</a:t>
            </a:r>
            <a:endParaRPr lang="en-US" altLang="zh-CN" dirty="0">
              <a:solidFill>
                <a:schemeClr val="tx2"/>
              </a:solidFill>
              <a:latin typeface="仿宋" panose="02010609060101010101" pitchFamily="49" charset="-122"/>
              <a:ea typeface="仿宋" panose="02010609060101010101" pitchFamily="49" charset="-122"/>
              <a:cs typeface="+mj-cs"/>
            </a:endParaRPr>
          </a:p>
          <a:p>
            <a:pPr marL="0" indent="0">
              <a:spcBef>
                <a:spcPct val="0"/>
              </a:spcBef>
              <a:buNone/>
              <a:defRPr/>
            </a:pPr>
            <a:r>
              <a:rPr lang="en-US" altLang="zh-CN" dirty="0">
                <a:solidFill>
                  <a:schemeClr val="tx2"/>
                </a:solidFill>
                <a:latin typeface="仿宋" panose="02010609060101010101" pitchFamily="49" charset="-122"/>
                <a:ea typeface="仿宋" panose="02010609060101010101" pitchFamily="49" charset="-122"/>
                <a:cs typeface="+mj-cs"/>
              </a:rPr>
              <a:t>2</a:t>
            </a:r>
            <a:r>
              <a:rPr lang="zh-CN" altLang="en-US" dirty="0">
                <a:solidFill>
                  <a:schemeClr val="tx2"/>
                </a:solidFill>
                <a:latin typeface="仿宋" panose="02010609060101010101" pitchFamily="49" charset="-122"/>
                <a:ea typeface="仿宋" panose="02010609060101010101" pitchFamily="49" charset="-122"/>
                <a:cs typeface="+mj-cs"/>
              </a:rPr>
              <a:t>、本课程你的学习目标是什么？你会如何学习本课程？</a:t>
            </a:r>
            <a:endParaRPr lang="en-US" altLang="zh-CN" dirty="0">
              <a:solidFill>
                <a:schemeClr val="tx2"/>
              </a:solidFill>
              <a:latin typeface="仿宋" panose="02010609060101010101" pitchFamily="49" charset="-122"/>
              <a:ea typeface="仿宋" panose="02010609060101010101" pitchFamily="49" charset="-122"/>
              <a:cs typeface="+mj-cs"/>
            </a:endParaRPr>
          </a:p>
          <a:p>
            <a:pPr marL="0" indent="0">
              <a:spcBef>
                <a:spcPct val="0"/>
              </a:spcBef>
              <a:buNone/>
              <a:defRPr/>
            </a:pPr>
            <a:endParaRPr lang="en-US" altLang="zh-CN" dirty="0">
              <a:solidFill>
                <a:schemeClr val="tx2"/>
              </a:solidFill>
              <a:latin typeface="仿宋" panose="02010609060101010101" pitchFamily="49" charset="-122"/>
              <a:ea typeface="仿宋" panose="02010609060101010101" pitchFamily="49" charset="-122"/>
              <a:cs typeface="+mj-cs"/>
            </a:endParaRPr>
          </a:p>
          <a:p>
            <a:pPr marL="0" indent="0">
              <a:spcBef>
                <a:spcPct val="0"/>
              </a:spcBef>
              <a:buNone/>
              <a:defRPr/>
            </a:pPr>
            <a:r>
              <a:rPr lang="en-US" altLang="zh-CN" dirty="0">
                <a:solidFill>
                  <a:schemeClr val="tx2"/>
                </a:solidFill>
                <a:latin typeface="仿宋" panose="02010609060101010101" pitchFamily="49" charset="-122"/>
                <a:ea typeface="仿宋" panose="02010609060101010101" pitchFamily="49" charset="-122"/>
                <a:cs typeface="+mj-cs"/>
              </a:rPr>
              <a:t>3</a:t>
            </a:r>
            <a:r>
              <a:rPr lang="zh-CN" altLang="en-US" dirty="0">
                <a:solidFill>
                  <a:schemeClr val="tx2"/>
                </a:solidFill>
                <a:latin typeface="仿宋" panose="02010609060101010101" pitchFamily="49" charset="-122"/>
                <a:ea typeface="仿宋" panose="02010609060101010101" pitchFamily="49" charset="-122"/>
                <a:cs typeface="+mj-cs"/>
              </a:rPr>
              <a:t>、解释：什么是管理，并以你的某次成功或失败事件来说明这个概念。</a:t>
            </a:r>
            <a:endParaRPr lang="en-US" altLang="zh-CN" dirty="0">
              <a:solidFill>
                <a:schemeClr val="tx2"/>
              </a:solidFill>
              <a:latin typeface="仿宋" panose="02010609060101010101" pitchFamily="49" charset="-122"/>
              <a:ea typeface="仿宋" panose="02010609060101010101" pitchFamily="49" charset="-122"/>
              <a:cs typeface="+mj-cs"/>
            </a:endParaRPr>
          </a:p>
          <a:p>
            <a:pPr marL="0" indent="0">
              <a:spcBef>
                <a:spcPct val="0"/>
              </a:spcBef>
              <a:buNone/>
              <a:defRPr/>
            </a:pPr>
            <a:r>
              <a:rPr lang="en-US" altLang="zh-CN" dirty="0">
                <a:solidFill>
                  <a:schemeClr val="tx2"/>
                </a:solidFill>
                <a:latin typeface="仿宋" panose="02010609060101010101" pitchFamily="49" charset="-122"/>
                <a:ea typeface="仿宋" panose="02010609060101010101" pitchFamily="49" charset="-122"/>
                <a:cs typeface="+mj-cs"/>
              </a:rPr>
              <a:t>4</a:t>
            </a:r>
            <a:r>
              <a:rPr lang="zh-CN" altLang="en-US" dirty="0">
                <a:solidFill>
                  <a:schemeClr val="tx2"/>
                </a:solidFill>
                <a:latin typeface="仿宋" panose="02010609060101010101" pitchFamily="49" charset="-122"/>
                <a:ea typeface="仿宋" panose="02010609060101010101" pitchFamily="49" charset="-122"/>
                <a:cs typeface="+mj-cs"/>
              </a:rPr>
              <a:t>、解释：什么是科学，并以你的某</a:t>
            </a:r>
            <a:r>
              <a:rPr lang="zh-CN" altLang="en-US">
                <a:solidFill>
                  <a:schemeClr val="tx2"/>
                </a:solidFill>
                <a:latin typeface="仿宋" panose="02010609060101010101" pitchFamily="49" charset="-122"/>
                <a:ea typeface="仿宋" panose="02010609060101010101" pitchFamily="49" charset="-122"/>
                <a:cs typeface="+mj-cs"/>
              </a:rPr>
              <a:t>次成功或失败事件</a:t>
            </a:r>
            <a:r>
              <a:rPr lang="zh-CN" altLang="en-US" dirty="0">
                <a:solidFill>
                  <a:schemeClr val="tx2"/>
                </a:solidFill>
                <a:latin typeface="仿宋" panose="02010609060101010101" pitchFamily="49" charset="-122"/>
                <a:ea typeface="仿宋" panose="02010609060101010101" pitchFamily="49" charset="-122"/>
                <a:cs typeface="+mj-cs"/>
              </a:rPr>
              <a:t>来说明这个概念。</a:t>
            </a:r>
          </a:p>
          <a:p>
            <a:pPr marL="0" indent="0">
              <a:buFont typeface="Wingdings" panose="05000000000000000000" pitchFamily="2" charset="2"/>
              <a:buNone/>
              <a:defRPr/>
            </a:pP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66331B-82FE-73B6-C8E0-CEDE63C1154E}"/>
              </a:ext>
            </a:extLst>
          </p:cNvPr>
          <p:cNvSpPr>
            <a:spLocks noGrp="1"/>
          </p:cNvSpPr>
          <p:nvPr>
            <p:ph type="title"/>
          </p:nvPr>
        </p:nvSpPr>
        <p:spPr/>
        <p:txBody>
          <a:bodyPr/>
          <a:lstStyle/>
          <a:p>
            <a:r>
              <a:rPr lang="zh-CN" altLang="en-US" dirty="0"/>
              <a:t>课后反思笔记</a:t>
            </a:r>
          </a:p>
        </p:txBody>
      </p:sp>
      <p:sp>
        <p:nvSpPr>
          <p:cNvPr id="3" name="内容占位符 2">
            <a:extLst>
              <a:ext uri="{FF2B5EF4-FFF2-40B4-BE49-F238E27FC236}">
                <a16:creationId xmlns:a16="http://schemas.microsoft.com/office/drawing/2014/main" id="{A19C9FA1-A311-2684-DDC5-16C0574312BC}"/>
              </a:ext>
            </a:extLst>
          </p:cNvPr>
          <p:cNvSpPr>
            <a:spLocks noGrp="1"/>
          </p:cNvSpPr>
          <p:nvPr>
            <p:ph idx="1"/>
          </p:nvPr>
        </p:nvSpPr>
        <p:spPr/>
        <p:txBody>
          <a:bodyPr/>
          <a:lstStyle/>
          <a:p>
            <a:pPr marL="0" indent="0">
              <a:buNone/>
            </a:pPr>
            <a:r>
              <a:rPr lang="en-US" altLang="zh-CN" dirty="0"/>
              <a:t>1</a:t>
            </a:r>
            <a:r>
              <a:rPr lang="zh-CN" altLang="en-US" dirty="0"/>
              <a:t>、本堂课主要讲了哪几个内容？</a:t>
            </a:r>
            <a:endParaRPr lang="en-US" altLang="zh-CN" dirty="0"/>
          </a:p>
          <a:p>
            <a:pPr marL="0" indent="0">
              <a:buNone/>
            </a:pPr>
            <a:r>
              <a:rPr lang="en-US" altLang="zh-CN" dirty="0"/>
              <a:t>2</a:t>
            </a:r>
            <a:r>
              <a:rPr lang="zh-CN" altLang="en-US" dirty="0"/>
              <a:t>、本课堂内容</a:t>
            </a:r>
            <a:r>
              <a:rPr lang="zh-CN" altLang="en-US"/>
              <a:t>与日常生活学习中</a:t>
            </a:r>
            <a:r>
              <a:rPr lang="zh-CN" altLang="en-US" dirty="0"/>
              <a:t>的事件分析有什么相关吗，有什么管理启示。</a:t>
            </a:r>
          </a:p>
        </p:txBody>
      </p:sp>
      <p:sp>
        <p:nvSpPr>
          <p:cNvPr id="4" name="灯片编号占位符 3">
            <a:extLst>
              <a:ext uri="{FF2B5EF4-FFF2-40B4-BE49-F238E27FC236}">
                <a16:creationId xmlns:a16="http://schemas.microsoft.com/office/drawing/2014/main" id="{96BF72C8-9316-A474-E4B6-3DDFED922EDB}"/>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100" b="0" i="0" u="none" strike="noStrike" kern="1200" cap="none" spc="0" normalizeH="0" baseline="0" noProof="0" smtClean="0">
                <a:ln>
                  <a:noFill/>
                </a:ln>
                <a:solidFill>
                  <a:srgbClr val="2F2F2F">
                    <a:lumMod val="75000"/>
                    <a:lumOff val="25000"/>
                  </a:srgbClr>
                </a:solidFill>
                <a:effectLst/>
                <a:uLnTx/>
                <a:uFillTx/>
                <a:latin typeface="Franklin Gothic Book"/>
                <a:ea typeface="黑体" panose="020106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zh-CN" altLang="en-US" sz="1100" b="0" i="0" u="none" strike="noStrike" kern="1200" cap="none" spc="0" normalizeH="0" baseline="0" noProof="0">
              <a:ln>
                <a:noFill/>
              </a:ln>
              <a:solidFill>
                <a:srgbClr val="2F2F2F">
                  <a:lumMod val="75000"/>
                  <a:lumOff val="25000"/>
                </a:srgbClr>
              </a:solidFill>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544654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B87EFF-CC0A-44B0-98EA-2F9E136C64F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8852F90-A960-409C-8D64-6A50545093EF}"/>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E3C0B231-F609-4166-8F87-FF2686001D3E}"/>
              </a:ext>
            </a:extLst>
          </p:cNvPr>
          <p:cNvSpPr>
            <a:spLocks noGrp="1"/>
          </p:cNvSpPr>
          <p:nvPr>
            <p:ph type="sldNum" sz="quarter" idx="12"/>
          </p:nvPr>
        </p:nvSpPr>
        <p:spPr/>
        <p:txBody>
          <a:bodyPr/>
          <a:lstStyle/>
          <a:p>
            <a:fld id="{0C913308-F349-4B6D-A68A-DD1791B4A57B}" type="slidenum">
              <a:rPr lang="zh-CN" altLang="en-US" smtClean="0"/>
              <a:pPr/>
              <a:t>33</a:t>
            </a:fld>
            <a:endParaRPr lang="zh-CN" altLang="en-US"/>
          </a:p>
        </p:txBody>
      </p:sp>
    </p:spTree>
    <p:extLst>
      <p:ext uri="{BB962C8B-B14F-4D97-AF65-F5344CB8AC3E}">
        <p14:creationId xmlns:p14="http://schemas.microsoft.com/office/powerpoint/2010/main" val="373190059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2.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Fan</Template>
  <TotalTime>4241</TotalTime>
  <Words>3272</Words>
  <Application>Microsoft Office PowerPoint</Application>
  <PresentationFormat>全屏显示(4:3)</PresentationFormat>
  <Paragraphs>233</Paragraphs>
  <Slides>33</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33</vt:i4>
      </vt:variant>
    </vt:vector>
  </HeadingPairs>
  <TitlesOfParts>
    <vt:vector size="46" baseType="lpstr">
      <vt:lpstr>仿宋</vt:lpstr>
      <vt:lpstr>华文宋体</vt:lpstr>
      <vt:lpstr>楷体</vt:lpstr>
      <vt:lpstr>宋体</vt:lpstr>
      <vt:lpstr>Arial</vt:lpstr>
      <vt:lpstr>Calibri</vt:lpstr>
      <vt:lpstr>Franklin Gothic Book</vt:lpstr>
      <vt:lpstr>Franklin Gothic Medium</vt:lpstr>
      <vt:lpstr>Tahoma</vt:lpstr>
      <vt:lpstr>Wingdings</vt:lpstr>
      <vt:lpstr>Wingdings 2</vt:lpstr>
      <vt:lpstr>暗香扑面</vt:lpstr>
      <vt:lpstr>诗情画意</vt:lpstr>
      <vt:lpstr>《冲突管理》课程前言</vt:lpstr>
      <vt:lpstr>内容</vt:lpstr>
      <vt:lpstr>前面的话</vt:lpstr>
      <vt:lpstr>冲突管理是什么？</vt:lpstr>
      <vt:lpstr>冲突管理是什么？ ——个体内的冲突</vt:lpstr>
      <vt:lpstr>冲突管理是什么？ ——个体内的冲突</vt:lpstr>
      <vt:lpstr>冲突管理是什么？ ——个体间的冲突？</vt:lpstr>
      <vt:lpstr>冲突管理是什么？ ——群体间的冲突？</vt:lpstr>
      <vt:lpstr>冲突管理是什么？ ——什么是冲突？</vt:lpstr>
      <vt:lpstr>冲突管理是什么？ ——冲突有益吗？</vt:lpstr>
      <vt:lpstr>冲突管理是什么？ ——什么是冲突？</vt:lpstr>
      <vt:lpstr>冲突管理是什么？ ——什么是冲突？</vt:lpstr>
      <vt:lpstr>冲突管理是什么？ ——什么是冲突？</vt:lpstr>
      <vt:lpstr>冲突管理是什么？</vt:lpstr>
      <vt:lpstr>冲突管理是什么？ ——什么是管理？</vt:lpstr>
      <vt:lpstr>冲突管理是什么？——内容框架</vt:lpstr>
      <vt:lpstr>冲突管理概念启示：一个企业内冲突的解决</vt:lpstr>
      <vt:lpstr>案例分析思路</vt:lpstr>
      <vt:lpstr>案例分析：</vt:lpstr>
      <vt:lpstr>冲突管理课程内容</vt:lpstr>
      <vt:lpstr>冲突管理课程内容</vt:lpstr>
      <vt:lpstr>冲突管理课程内容</vt:lpstr>
      <vt:lpstr>冲突管理课程如何学？</vt:lpstr>
      <vt:lpstr>PowerPoint 演示文稿</vt:lpstr>
      <vt:lpstr>如何检验你的学习效果？</vt:lpstr>
      <vt:lpstr>回归前面的话--该怎么学</vt:lpstr>
      <vt:lpstr>管理实践能力最终检验标准：</vt:lpstr>
      <vt:lpstr>课程考核――选修课 </vt:lpstr>
      <vt:lpstr>课外阅读</vt:lpstr>
      <vt:lpstr>小组实践作业</vt:lpstr>
      <vt:lpstr>课外作业一</vt:lpstr>
      <vt:lpstr>课后反思笔记</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ASUS</cp:lastModifiedBy>
  <cp:revision>291</cp:revision>
  <dcterms:created xsi:type="dcterms:W3CDTF">2018-01-09T01:01:37Z</dcterms:created>
  <dcterms:modified xsi:type="dcterms:W3CDTF">2023-02-19T06:26:57Z</dcterms:modified>
</cp:coreProperties>
</file>